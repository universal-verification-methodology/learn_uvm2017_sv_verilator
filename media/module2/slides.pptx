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each path to files under module/examples/.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this order when tracing waveforms or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module2/examples/clock_generation/README.md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module2/examples/clock_generation/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module2/examples/reset_patterns/README.md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module2/examples/reset_patterns/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module2/examples/signal_access/README.md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module2/examples/signal_access/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module2/examples/triggers/README.md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module2/examples/triggers/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module2/examples/common_patterns/README.md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module2/examples/common_patterns/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9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1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3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5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2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SystemVerilog Testbench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SystemVerilog testbench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SystemVerilog testbench construction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provides comprehensive coverage of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SystemVerilog testbench construction. You'll learn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testbench architecture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boundary: signals cross via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 ports or SystemVerilog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Hierarchy: TB module →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instance → optional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Time: `#delay`, `@posedge`,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C++ time loop must stay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consistent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[SYSTEMVERILOG_VERILATOR_INT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ERACTION.md](SYSTEMVERILOG_VERIL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ATOR_INTERACTION.md)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compile/si…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testbench architecture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module2/dut/: RTL blocks under test (registers,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FIFOs, state machines)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module2/examples/*/: Focused TB patterns (clock,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reset, triggers, access)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module2/tests/uvm_tests/: UVM wrappers on the same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DUTs (bridge to Module 3)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module: Instantiates DUT + interfaces;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generates clk/rst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testbench architecture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sim_main.cpp: C++ entry: drives time, calls eval()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each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RTL block architecture (example DUTs)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files — address decode,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read/write timing,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FIFOs — full/empty flags,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pointer management, back-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pressure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State machines — explicit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states, transition conditions,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output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flow: clk/rst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sequential logic → status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→ TB monitors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Verilator execution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1: Makefile — Invokes 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--cc --exe --timing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2: obj_dir/V*.cpp — Generated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cycle-accurate C++ model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3: sim_main.cpp —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generation and $finish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4: ./obj_dir/V* — Executable; TB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prints PASS/FAIL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block diagram (reference)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2: DUT hierarchy and signal 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/ testbench diagram (reference)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2: stimulus, observation, and checking.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Execution &amp; simulation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How the example runs (toolchain)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Makefile: Verilator + UVM_HOME compile RTL,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interface, and test_*.sv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phases: build → connect → run_test → report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(same pattern as Module 2)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→ driver → DUT → monitor → scoreboard (read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at end)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Typical command: make SIM=verilator TEST=test_* (see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module2 demo slide)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Loopback / hooks connect monitor observations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Artifact flow (spec → sim)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1: Makefile — Invokes Verilator with --cc --exe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2: obj_dir/V*.cpp — Generated cycle-accurate C++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3: sim_main.cpp — Clock generation and $finish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4: ./obj_dir/V* — Executable; TB prints PASS/FAIL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directory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module2/dut/: RTL blocks under test (registers,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FIFOs, state machines)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module2/examples/*/: Focused TB patterns (clock,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reset, triggers, access)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module2/tests/uvm_tests/: UVM wrappers on the same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DUTs (bridge to Module 3)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module: Instantiates DUT + interfaces;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generates clk/rst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sim_main.cpp: C++ entry: drives time, calls eval()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each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Directed test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link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grep PASS in 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Stimulus and timing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generation: parameterized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period/duty; multiple clocks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CDC awareness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sequences: assert length,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sync deassert, mid-test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injection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Triggers: `@posedge`, `wait()`,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`fork-join` for parallel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activity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access: hierarchical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references and interface modport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access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Checking and debug workflow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Self-checking tests compare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outputs against expected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each cycle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Waveforms (`--trace`)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debugging timing and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Closure criteria: all directed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cases PASS; no `$error`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timeout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`./scripts/module2.sh --all-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examples` for module-level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regression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Checking and debug workflow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tests reuse same DUTs — compare directed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phase-based execution in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Protocol &amp; design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2.1: Clock Generation (`module2/examples/clock_genera…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Clock: Basic clock generation with `always`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Parameterized Clock: Clock with configurable period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duty cycle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Clocks: Generating multiple independent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Gating: Conditional clock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2.1: Clock Generation (`module2/examples/clock_genera…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Stopping: Controlled clock stopping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 `always` block for continuous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 operator `#` controls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Creates 50% duty cycle clock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2.2: Reset Patterns (`module2/examples/reset_patterns…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Synchronous Reset: Reset synchronized to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Asynchronous Reset: Reset independent of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Sequence: Controlled reset assertion and de-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Verification: Checking reset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2.2: Reset Patterns (`module2/examples/reset_patterns…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Encapsulates async reset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 Configurable reset duration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`async_reset_sequence(100);`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Features: Uses delays, displays timing info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2.3: Signal Access (`module2/examples/signal_access/s…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Reading: Reading DUT signal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Driving: Driving signals to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Monitoring: Monitoring signal changes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Types: Handling different signal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2.3: Signal Access (`module2/examples/signal_access/s…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Demonstrates reading signal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`$display()` with format specifiers (`%02h`,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`%0d`, `%b`)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Reads signals after delays for proper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Demonstrates driving signals to DUT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2.4: Triggers and Timing (`module2/examples/triggers/…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Control: Using `@` for event-based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 Control: Using `#` for time-based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Wait Statements: Using `wait` for condition-based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waiting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Fork-Join: Parallel execution with synchronization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2.4: Triggers and Timing (`module2/examples/triggers/…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Named Events: Event-based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Timeout Handling: Timeout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Demonstrates event-based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`@(posedge)`, `@(negedge)`, `@(signal)`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event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2.5: Common Patterns (`module2/examples/common_patter…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Structure: Organized testbench with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Pattern: Stimulus generation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Pattern: Response monitoring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Pattern: Response checking component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2.5: Common Patterns (`module2/examples/common_patter…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Reusable Components: Component reuse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Demonstrates organized testbench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Structure: Initialization → Reset → Stimulus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Checking → Cleanup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Clear separation of test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Testbench Task Patterns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Encapsulate reset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Reusability: Can be called from multiple test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 Configurable duration/cycles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clock 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Testbench Task Patterns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Use `always` blocks for continuous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Delay operator `#` controls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Organize test into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Structure: Clear separation of concerns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Timing Control Functions and Tasks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time-based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tasks and initial blocks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Cannot be used in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Synchronize to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Timing Control Functions and Tasks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tasks and always blocks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Event-driven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Condition-based waiting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Built-in Functions for Testbenches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Track simulation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Timing verification,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Get signal dimensions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Dynamic signal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Built-in Functions for Testbenches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Print formatted 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 Specifiers: `%0d` (decimal), `%0h` (hex),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`%0b` (binary), `%0t` (time)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Verify conditions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Test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Common Testbench Patterns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Free-running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Uses `forever` loop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Reusable reset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Encapsulated in task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Common Testbench Patterns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Loop-based stimulus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Synchronized to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Assertion-based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Uses `assert` with `$error()`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Best Practices for Testbench Tasks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Each test phase as separate task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Helper tasks for common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Clear task naming conventions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parameters for configurability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Best Practices for Testbench Tasks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Default parameter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Type-safe parameters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 synchronize to clock edges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appropriate delays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Common Pitfalls in Testbench Construction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`forever` with `~` operator can cause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explicit assignment with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Fixed delays don't guarantee clock alignment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Always use `@(posedge clk)`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synchronization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Common Pitfalls in Testbench Construction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Insufficient reset duration or propagation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configurable duration and add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propagation delay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Non-blocking assignments in tasks can cause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timing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blocking assignments (`=`) in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Performance Considerations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clocks: Use `always` blocks (efficient)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clocks: Each clock needs separate `always`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Gated clocks: Conditional logic adds minimal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overhead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Tasks: Slower due to timing simulation overhead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Performance Considerations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Functions: Faster (zero-time), but can't use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Recommendation: Use functions for calculations,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tasks for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`@(posedge clk)`: Efficient, event-driven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`#delay`: Time-based, requires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Troubleshooting Guide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Symptoms: Clock signal stuck at 0 or 1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`always` block not executing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 value too large or zero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Troubleshooting Guide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Blocking on condition that never becomes true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 `always` block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delay values are positive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flow (reference)</a:t>
            </a:r>
          </a:p>
        </p:txBody>
      </p:sp>
      <p:pic>
        <p:nvPicPr>
          <p:cNvPr id="3" name="Picture 2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Stimulus, DUT response, and check points for this module.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Testbench Architecture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a Testbench?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purpose and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(Design Under Test) connection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Response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Testbench Architecture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module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and reset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 and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Testbench Architecture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connectivity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Clock Generation and Management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clock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with parameters (period, duty cycle)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Clock Generation and Management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Regular clocks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Gated clocks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division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stopping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domain crossing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Domain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Clock Generation and Management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clock domains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domain crossing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Synchronization between domains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Metastability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Clock: Basic clock generation with `always`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Parameterized Clock: Clock with configurable period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duty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Clock Generation and Management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Clocks: Generating multiple independent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Gating: Conditional clock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Stopping: Controlled clock stopping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 `always` block for continuous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 operator `#` controls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Creates 50% duty cycle clock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Clock Generation and Management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 parameters for flexibility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Same pattern, different frequency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Conditional clock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 `if-else` for gating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 `wait` statement for condition-based stopping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 controlled clock stopping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Clock Generation and Management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`$display()` - Print clock information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`$time` - Get current simulation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`$finish` - Terminate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Clocks are fundamental to synchronous designs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Parameterized clocks enable flexibility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clocks require careful synchronization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Clock Generation and Management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gating is common in low-power designs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`always` blocks create continuous processes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 operator `#` controls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`wait` statements enable condition-based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clock generation with configurable period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independent clocks demonstrated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Clock Generation and Management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gating and stopping patterns working correctly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Reset Patterns and Sequences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Synchronous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Asynchronous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assertion and de-assertion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Reset Patterns and Sequences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Power-on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Software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Hardware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Partial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assertion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Reset Patterns and Sequences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de-assertion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timing checks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Synchronous Reset: Reset synchronized to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Asynchronous Reset: Reset independent of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Sequence: Controlled reset assertion and de-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Reset Patterns and Sequences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Verification: Checking reset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Encapsulates async reset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 Configurable reset duration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`async_reset_sequence(100);`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Features: Uses delays, displays timing info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Encapsulates sync reset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Reset Patterns and Sequences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 Number of reset cycles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`sync_reset_sequence(5);`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Features: Uses `repeat` and `@(posedge clk)`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clock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Verifies reset properly initializes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registers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`assert` statements with `$error()`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`verify_reset();`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Reset Patterns and Sequences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is critical for proper design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Synchronous vs asynchronous reset have different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sequences must follow design requirements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verification ensures proper operation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 encapsulate reset sequences for reusability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`repeat` statement repeats clock cycles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Reset Patterns and Sequences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`@(posedge clk)` synchronizes to clock edges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`assert` statements verify reset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Synchronous and asynchronous reset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demonstrated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sequences executed correctly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verification checks passing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Driving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Reading signal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types and widths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state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Driving 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Driving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Assigning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Continuous assignment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Procedural assignment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Single-bit 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Driving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Multi-bit signals (vectors)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Buses and arrays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Bidirectional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Reading: Reading DUT signal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Driving: Driving signals to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Monitoring: Monitoring signal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Driving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Types: Handling different signal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Demonstrates reading signal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`$display()` with format specifiers (`%02h`,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`%0d`, `%b`)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Reads signals after delays for proper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Demonstrates driving signals to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Blocking assignment (`=`) for signal driving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Driving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Verification: Uses `assert` to verify driven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Automatically monitors signal changes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`always @(signal)` for event-driven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Runs in parallel with test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Demonstrates different signal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`$bits()` built-in function for signal width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Driving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Handles single-bit, multi-bit, and array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`$display()` - Print signal values with formatting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`$time` - Get current simulation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`$bits()` - Get signal bit width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`$error()` - Report errors in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access is fundamental to testbench operation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Driving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Proper timing is essential for signal driving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monitoring enables response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Different signal types require different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 organize signal access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`always @(signal)` creates event-driven monitors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Blocking assignment (`=`) for signal driving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Signal Access and Driving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 specifiers (`%b`, `%h`, `%d`) for display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reading operations working correctly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 verified with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monitoring capturing changes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Different signal types handled properly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Event and Timing Control (1/9)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Events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declaration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triggering (`-&gt;`)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waiting (`@`)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Named events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Event and Timing Control (2/9)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`#` delay operator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`@` event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`wait` statement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`fork-join` constructs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 synchronization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Event and Timing Control (3/9)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Barrier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Timeout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Race condition avoidance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Control: Using `@` for event-based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 Control: Using `#` for time-based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Wait Statements: Using `wait` for condition-based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waiting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Event and Timing Control (4/9)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Fork-Join: Parallel execution with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Named Events: Event-based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Timeout Handling: Timeout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Demonstrates event-based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`@(posedge)`, `@(negedge)`, `@(signal)`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event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Waits for specific events before continuing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Event and Timing Control (5/9)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Demonstrates time-based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`#` delay operator with fixed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parameterized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Tracks time using `$time` built-in function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Demonstrates condition-based waiting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`wait(condition)` statement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Waits until condition becomes true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Event and Timing Control (6/9)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Demonstrates parallel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`fork-join` for parallel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Waits for all tasks to complete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Continues after first task completes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`fork-join_any` construct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Doesn't wait for all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Event and Timing Control (7/9)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Starts tasks without waiting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`fork-join_none` construct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Continues immediately, tasks run in background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Demonstrates named event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`event` declaration, `@(event)` wait, `-&gt;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event` trigger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Flexible synchronization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Event and Timing Control (8/9)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Events enable synchronization between processes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control is essential for proper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Wait statements enable condition-based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Fork-join enables parallel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`@(posedge/negedge)` waits for signal edges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`#` delay operator creates time-based delays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Event and Timing Control (9/9)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`wait(condition)` waits for condition to become true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`fork-join` creates parallel execution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Named events provide flexible synchronization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Common Verification Patterns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Initialization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Response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Cleanup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Common Verification Patterns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Constrained random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Coverage-driven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Assertion-based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Reusable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Common Verification Patterns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Checker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Structure: Organized testbench with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Pattern: Stimulus generation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Pattern: Response monitoring component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Common Verification Patterns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Pattern: Response checking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Reusable Components: Component reuse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Demonstrates organized testbench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Structure: Initialization → Reset → Stimulus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Checking → Cleanup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Clear separation of test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Stimulus generation component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Common Verification Patterns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Virtual task for polymorphism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Can be extended in derived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Response monitoring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Constructor function, virtual task, accessor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function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Captures and provides access to monitored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Response checking component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Common Verification Patterns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Queue methods (`push_back()`, `size()`),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comparison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Compares expected vs actual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Structured testbenches are easier to maintain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Reusable components improve productivity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patterns enable code reuse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Patterns prepare for UVM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Common Verification Patterns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 organize test phases (init, reset, stimulus,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tasks enable polymorphism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methods encapsulate component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operations manage transaction 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Test Structure and Organization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Function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module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parameters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Test Structure and Organization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discovery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parameters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fixtures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file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Test Structure and Organization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naming conventions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documentation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maintenance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(1/23)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Encapsulate reset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Reusability: Can be called from multiple test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 Configurable duration/cycles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clock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Use `always` blocks for continuous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Delay operator `#` controls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(2/23)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Organize test into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Structure: Clear separation of concerns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Maintainability: Easy to modify individual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Encapsulate signal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 Parameters: Use `output` for return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Synchronize with clock edges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(3/23)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time-based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tasks and initial blocks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Cannot be used in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Synchronize to events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tasks and always blocks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Event-driven synchronization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(4/23)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Condition-based waiting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Waits until condition becomes true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Parallel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Different join types for different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synchronization needs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(5/23)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Track simulation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Timing verification,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Get signal dimensions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Dynamic signal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Print formatted 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 Specifiers: `%0d` (decimal), `%0h` (hex),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`%0b` (binary), `%0t` (time)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(6/23)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Verify conditions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Test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Severity: ERROR, FATAL, WARNING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Free-running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Uses `forever` loop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Reusable reset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(7/23)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Encapsulated in task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Loop-based stimulus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Synchronized to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Assertion-based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Uses `assert` with `$error()`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Event-driven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(8/23)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Uses `always @(posedge clk)`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Each test phase as separate task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Helper tasks for common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Clear task naming conventions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parameters for configurability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Default parameter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(9/23)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Type-safe parameters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 synchronize to clock edges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appropriate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Avoid race conditions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assertions for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Provide informative error messages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(10/23)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Handle edge cases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Encapsulate common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virtual tasks for polymorphism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reusable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`forever` with `~` operator can cause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explicit assignment with delays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(11/23)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Fixed delays don't guarantee clock alignment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Always use `@(posedge clk)`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Insufficient reset duration or propagation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configurable duration and add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propagation delay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Non-blocking assignments in tasks can cause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timing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blocking assignments (`=`) in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(12/23)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No way to verify tasks completed successfully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Add completion messages or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Issue: Wait statement can hang if condition never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becomes true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fork-join with timeout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clocks: Use `always` blocks (efficient)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clocks: Each clock needs separate `always`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(13/23)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Gated clocks: Conditional logic adds minimal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overhead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Tasks: Slower due to timing simulation overhead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Functions: Faster (zero-time), but can't use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Recommendation: Use functions for calculations,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tasks for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`@(posedge clk)`: Efficient, event-driven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`#delay`: Time-based, requires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(14/23)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`wait(condition)`: Polls condition, can be slower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`fork-join`: Creates parallel processes (overhead)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sparingly: Only when parallel execution 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needed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Alternative: Sequential execution is faster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Symptoms: Clock signal stuck at 0 or 1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(15/23)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`always` block not executing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 value too large or zero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Blocking on condition that never becomes true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 `always` block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delay values are positive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(16/23)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`$display` to debug clock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Symptoms: Registers not resetting to expected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Insufficient reset duration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de-asserted too early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Missing propagation delay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(17/23)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Increase reset duration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 delay after reset de-assert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reset polarity (active-high vs active-low)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Symptoms: Signal value doesn't change as expected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(18/23)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Not synchronized to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wrong assignment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not being driven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`@(posedge clk)` before reading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blocking assignment (`=`) in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(19/23)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signal is being driven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Symptoms: Inconsistent behavior, timing-dependent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failures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processes accessing same signal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and data changing simultaneously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Missing synchronization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(20/23)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proper clock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Avoid shared variable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non-blocking assignment in sequential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Symptoms: Code continues before tasks complete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(21/23)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`join_none` instead of `join`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 completing before join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`join` to wait for all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`join_any` to wait for first task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 completion flags if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(22/23)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Symptoms: Simulation hangs, never completes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Condition never becomes true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never assigned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Logic error in condition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Functions and Tasks for Testbench Construction (23/23)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 timeout mechanism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condition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 signal assignments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`$display` to debug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2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./scripts/module2.sh --help</a:t>
            </a:r>
          </a:p>
        </p:txBody>
      </p:sp>
      <p:pic>
        <p:nvPicPr>
          <p:cNvPr id="4" name="Picture 3" descr="module2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./scripts/module2.sh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Clock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Clock: Basic clock generation with `always`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Parameterized Clock: Clock with configurable period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duty cycle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Clocks: Generating multiple independent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Gating: Conditional clock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Stopping: Controlled clock stopping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Clock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./scripts/module2.sh --clock-generation</a:t>
            </a:r>
          </a:p>
        </p:txBody>
      </p:sp>
      <p:pic>
        <p:nvPicPr>
          <p:cNvPr id="4" name="Picture 3" descr="ex01_clock_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2: Reset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Synchronous Reset: Reset synchronized to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Asynchronous Reset: Reset independent of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Sequence: Controlled reset assertion and de-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Verification: Checking reset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Reset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./scripts/module2.sh --reset-patterns</a:t>
            </a:r>
          </a:p>
        </p:txBody>
      </p:sp>
      <p:pic>
        <p:nvPicPr>
          <p:cNvPr id="4" name="Picture 3" descr="ex02_reset_patte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3: Signal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Reading: Reading DUT signal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Driving: Driving signals to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Monitoring: Monitoring signal changes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Types: Handling different signal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Signal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./scripts/module2.sh --signal-access</a:t>
            </a:r>
          </a:p>
        </p:txBody>
      </p:sp>
      <p:pic>
        <p:nvPicPr>
          <p:cNvPr id="4" name="Picture 3" descr="ex03_signal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4: Triggers and Timing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Control: Using `@` for event-based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 Control: Using `#` for time-based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Wait Statements: Using `wait` for condition-based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waiting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Fork-Join: Parallel execution with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Named Events: Event-based synchronization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Triggers and Timing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./scripts/module2.sh --triggers</a:t>
            </a:r>
          </a:p>
        </p:txBody>
      </p:sp>
      <p:pic>
        <p:nvPicPr>
          <p:cNvPr id="4" name="Picture 3" descr="ex04_trig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5: Common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Structure: Organized testbench with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Pattern: Stimulus generation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Pattern: Response monitoring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Pattern: Response checking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Reusable Components: Component reuse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Common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./scripts/module2.sh --common-patterns</a:t>
            </a:r>
          </a:p>
        </p:txBody>
      </p:sp>
      <p:pic>
        <p:nvPicPr>
          <p:cNvPr id="4" name="Picture 3" descr="ex05_common_patte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Common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Clock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a parameterized clock generator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 multiple clocks with different frequencies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clock gating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clock domain crossing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Reset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synchronous and asynchronous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reset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reset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reset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Signal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 and drive DUT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signal changes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Handle different signal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signal checking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Timing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events for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delays and waits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fork-join for parallel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Handle timeouts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Testbench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driver pattern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monitor pattern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scoreboard pattern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reusable testbench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SystemVerilog testbench architecture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 clocks and manage clock domains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reset patterns and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Access and drive signals correctly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events and timing control effectively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common verification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 testbenches for maintainability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Prepare for UVM methodology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Write effective testbench tasks and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timing control constructs properly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generate clocks and manage clock domains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reset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access and drive signals correctly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events and timing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apply common verification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structure testbenches effectively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SystemVerilog testbench construction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module2/CHECKLIST.md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module2/EXAMPLES.md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