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  <p:sldId id="295" r:id="rId47"/>
    <p:sldId id="296" r:id="rId48"/>
    <p:sldId id="297" r:id="rId49"/>
    <p:sldId id="298" r:id="rId50"/>
    <p:sldId id="299" r:id="rId51"/>
    <p:sldId id="300" r:id="rId52"/>
    <p:sldId id="301" r:id="rId53"/>
    <p:sldId id="302" r:id="rId54"/>
    <p:sldId id="303" r:id="rId55"/>
    <p:sldId id="304" r:id="rId56"/>
    <p:sldId id="305" r:id="rId57"/>
    <p:sldId id="306" r:id="rId58"/>
    <p:sldId id="307" r:id="rId59"/>
    <p:sldId id="308" r:id="rId60"/>
    <p:sldId id="309" r:id="rId61"/>
    <p:sldId id="310" r:id="rId62"/>
    <p:sldId id="311" r:id="rId63"/>
    <p:sldId id="312" r:id="rId64"/>
    <p:sldId id="313" r:id="rId65"/>
    <p:sldId id="314" r:id="rId66"/>
    <p:sldId id="315" r:id="rId67"/>
    <p:sldId id="316" r:id="rId68"/>
    <p:sldId id="317" r:id="rId69"/>
    <p:sldId id="318" r:id="rId70"/>
    <p:sldId id="319" r:id="rId71"/>
    <p:sldId id="320" r:id="rId72"/>
    <p:sldId id="321" r:id="rId73"/>
    <p:sldId id="322" r:id="rId74"/>
    <p:sldId id="323" r:id="rId75"/>
    <p:sldId id="324" r:id="rId76"/>
    <p:sldId id="325" r:id="rId77"/>
    <p:sldId id="326" r:id="rId7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notesMaster" Target="notesMasters/notesMaster1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Relationship Id="rId45" Type="http://schemas.openxmlformats.org/officeDocument/2006/relationships/slide" Target="slides/slide38.xml"/><Relationship Id="rId46" Type="http://schemas.openxmlformats.org/officeDocument/2006/relationships/slide" Target="slides/slide39.xml"/><Relationship Id="rId47" Type="http://schemas.openxmlformats.org/officeDocument/2006/relationships/slide" Target="slides/slide40.xml"/><Relationship Id="rId48" Type="http://schemas.openxmlformats.org/officeDocument/2006/relationships/slide" Target="slides/slide41.xml"/><Relationship Id="rId49" Type="http://schemas.openxmlformats.org/officeDocument/2006/relationships/slide" Target="slides/slide42.xml"/><Relationship Id="rId50" Type="http://schemas.openxmlformats.org/officeDocument/2006/relationships/slide" Target="slides/slide43.xml"/><Relationship Id="rId51" Type="http://schemas.openxmlformats.org/officeDocument/2006/relationships/slide" Target="slides/slide44.xml"/><Relationship Id="rId52" Type="http://schemas.openxmlformats.org/officeDocument/2006/relationships/slide" Target="slides/slide45.xml"/><Relationship Id="rId53" Type="http://schemas.openxmlformats.org/officeDocument/2006/relationships/slide" Target="slides/slide46.xml"/><Relationship Id="rId54" Type="http://schemas.openxmlformats.org/officeDocument/2006/relationships/slide" Target="slides/slide47.xml"/><Relationship Id="rId55" Type="http://schemas.openxmlformats.org/officeDocument/2006/relationships/slide" Target="slides/slide48.xml"/><Relationship Id="rId56" Type="http://schemas.openxmlformats.org/officeDocument/2006/relationships/slide" Target="slides/slide49.xml"/><Relationship Id="rId57" Type="http://schemas.openxmlformats.org/officeDocument/2006/relationships/slide" Target="slides/slide50.xml"/><Relationship Id="rId58" Type="http://schemas.openxmlformats.org/officeDocument/2006/relationships/slide" Target="slides/slide51.xml"/><Relationship Id="rId59" Type="http://schemas.openxmlformats.org/officeDocument/2006/relationships/slide" Target="slides/slide52.xml"/><Relationship Id="rId60" Type="http://schemas.openxmlformats.org/officeDocument/2006/relationships/slide" Target="slides/slide53.xml"/><Relationship Id="rId61" Type="http://schemas.openxmlformats.org/officeDocument/2006/relationships/slide" Target="slides/slide54.xml"/><Relationship Id="rId62" Type="http://schemas.openxmlformats.org/officeDocument/2006/relationships/slide" Target="slides/slide55.xml"/><Relationship Id="rId63" Type="http://schemas.openxmlformats.org/officeDocument/2006/relationships/slide" Target="slides/slide56.xml"/><Relationship Id="rId64" Type="http://schemas.openxmlformats.org/officeDocument/2006/relationships/slide" Target="slides/slide57.xml"/><Relationship Id="rId65" Type="http://schemas.openxmlformats.org/officeDocument/2006/relationships/slide" Target="slides/slide58.xml"/><Relationship Id="rId66" Type="http://schemas.openxmlformats.org/officeDocument/2006/relationships/slide" Target="slides/slide59.xml"/><Relationship Id="rId67" Type="http://schemas.openxmlformats.org/officeDocument/2006/relationships/slide" Target="slides/slide60.xml"/><Relationship Id="rId68" Type="http://schemas.openxmlformats.org/officeDocument/2006/relationships/slide" Target="slides/slide61.xml"/><Relationship Id="rId69" Type="http://schemas.openxmlformats.org/officeDocument/2006/relationships/slide" Target="slides/slide62.xml"/><Relationship Id="rId70" Type="http://schemas.openxmlformats.org/officeDocument/2006/relationships/slide" Target="slides/slide63.xml"/><Relationship Id="rId71" Type="http://schemas.openxmlformats.org/officeDocument/2006/relationships/slide" Target="slides/slide64.xml"/><Relationship Id="rId72" Type="http://schemas.openxmlformats.org/officeDocument/2006/relationships/slide" Target="slides/slide65.xml"/><Relationship Id="rId73" Type="http://schemas.openxmlformats.org/officeDocument/2006/relationships/slide" Target="slides/slide66.xml"/><Relationship Id="rId74" Type="http://schemas.openxmlformats.org/officeDocument/2006/relationships/slide" Target="slides/slide67.xml"/><Relationship Id="rId75" Type="http://schemas.openxmlformats.org/officeDocument/2006/relationships/slide" Target="slides/slide68.xml"/><Relationship Id="rId76" Type="http://schemas.openxmlformats.org/officeDocument/2006/relationships/slide" Target="slides/slide69.xml"/><Relationship Id="rId77" Type="http://schemas.openxmlformats.org/officeDocument/2006/relationships/slide" Target="slides/slide70.xml"/><Relationship Id="rId78" Type="http://schemas.openxmlformats.org/officeDocument/2006/relationships/slide" Target="slides/slide7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2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3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4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5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6.xml"/></Relationships>
</file>

<file path=ppt/notesSlides/_rels/notesSlide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7.xml"/></Relationships>
</file>

<file path=ppt/notesSlides/_rels/notesSlide4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8.xml"/></Relationships>
</file>

<file path=ppt/notesSlides/_rels/notesSlide4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9.xml"/></Relationships>
</file>

<file path=ppt/notesSlides/_rels/notesSlide4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0.xml"/></Relationships>
</file>

<file path=ppt/notesSlides/_rels/notesSlide4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1.xml"/></Relationships>
</file>

<file path=ppt/notesSlides/_rels/notesSlide4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3.xml"/></Relationships>
</file>

<file path=ppt/notesSlides/_rels/notesSlide4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4.xml"/></Relationships>
</file>

<file path=ppt/notesSlides/_rels/notesSlide4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5.xml"/></Relationships>
</file>

<file path=ppt/notesSlides/_rels/notesSlide4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6.xml"/></Relationships>
</file>

<file path=ppt/notesSlides/_rels/notesSlide5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7.xml"/></Relationships>
</file>

<file path=ppt/notesSlides/_rels/notesSlide5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8.xml"/></Relationships>
</file>

<file path=ppt/notesSlides/_rels/notesSlide5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9.xml"/></Relationships>
</file>

<file path=ppt/notesSlides/_rels/notesSlide5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0.xml"/></Relationships>
</file>

<file path=ppt/notesSlides/_rels/notesSlide5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1.xml"/></Relationships>
</file>

<file path=ppt/notesSlides/_rels/notesSlide5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2.xml"/></Relationships>
</file>

<file path=ppt/notesSlides/_rels/notesSlide5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3.xml"/></Relationships>
</file>

<file path=ppt/notesSlides/_rels/notesSlide5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4.xml"/></Relationships>
</file>

<file path=ppt/notesSlides/_rels/notesSlide5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5.xml"/></Relationships>
</file>

<file path=ppt/notesSlides/_rels/notesSlide5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7.xml"/></Relationships>
</file>

<file path=ppt/notesSlides/_rels/notesSlide6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MODULE7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MODULE7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MODULE7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MODULE7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MODULE7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MODULE7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MODULE7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MODULE7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MODULE7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MODULE7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MODULE7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MODULE7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MODULE7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MODULE7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MODULE7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MODULE7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MODULE7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MODULE7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MODULE7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MODULE7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MODULE7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MODULE7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MODULE7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MODULE7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MODULE7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MODULE7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MODULE7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MODULE7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MODULE7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MODULE7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MODULE7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MODULE7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MODULE7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MODULE7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MODULE7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MODULE7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MODULE7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MODULE7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MODULE7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MODULE7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MODULE7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MODULE7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MODULE7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MODULE7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MODULE7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Run from course repository root.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module7/examples/dma/README.md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Hands-on: module7/examples/dma/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module7/examples/protocols/README.md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Hands-on: module7/examples/protocols/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module7/examples/protocols/README.md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Hands-on: module7/examples/protocols/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module7/examples/protocols/README.md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Hands-on: module7/examples/protocols/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module7/examples/vip/README.md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Hands-on: module7/examples/vip/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module7/examples/best_practices/README.md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Hands-on: module7/examples/best_practices/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MODULE7 Learning Outcomes.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MODULE7 Learning Outcomes.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8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9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0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1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2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3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4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5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6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7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8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9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0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1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2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3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4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5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46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7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48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9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50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1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52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3.xm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54.xm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5.xml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notesSlide" Target="../notesSlides/notesSlide56.xml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7.xml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notesSlide" Target="../notesSlides/notesSlide58.xml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9.xml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0.xml"/></Relationships>
</file>

<file path=ppt/slides/_rels/slide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1828800"/>
            <a:ext cx="11064240" cy="27432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>
              <a:lnSpc>
                <a:spcPts val="2200"/>
              </a:lnSpc>
              <a:spcAft>
                <a:spcPts val="400"/>
              </a:spcAft>
              <a:defRPr sz="4000" b="1">
                <a:solidFill>
                  <a:srgbClr val="1A1A2E"/>
                </a:solidFill>
                <a:latin typeface="Calibri"/>
              </a:defRPr>
            </a:pPr>
            <a:r>
              <a:t>Module 7</a:t>
            </a:r>
          </a:p>
          <a:p>
            <a:pPr algn="ctr">
              <a:lnSpc>
                <a:spcPts val="2200"/>
              </a:lnSpc>
              <a:spcBef>
                <a:spcPts val="1400"/>
              </a:spcBef>
              <a:defRPr sz="2600" b="0">
                <a:solidFill>
                  <a:srgbClr val="333333"/>
                </a:solidFill>
                <a:latin typeface="Calibri"/>
              </a:defRPr>
            </a:pPr>
            <a:r>
              <a:t>Real-World Applications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7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Learning objectives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Apply UVM to real-world verification scenarios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7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Prerequisites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See module README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7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Learning path</a:t>
            </a:r>
          </a:p>
        </p:txBody>
      </p:sp>
      <p:pic>
        <p:nvPicPr>
          <p:cNvPr id="3" name="Picture 2" descr="learning_pat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143000"/>
            <a:ext cx="8128000" cy="4572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5897880"/>
            <a:ext cx="11064240" cy="4114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1200" b="0">
                <a:solidFill>
                  <a:srgbClr val="333333"/>
                </a:solidFill>
                <a:latin typeface="Calibri"/>
              </a:defRPr>
            </a:pPr>
            <a:r>
              <a:t>Apply UVM to real-world verification scenarios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7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Overview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This module applies UVM to real-world verification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scenarios including DMA verification, protocol v…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7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0"/>
            <a:ext cx="11064240" cy="1371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>
              <a:lnSpc>
                <a:spcPts val="2200"/>
              </a:lnSpc>
              <a:defRPr sz="3600" b="1">
                <a:solidFill>
                  <a:srgbClr val="1A1A2E"/>
                </a:solidFill>
                <a:latin typeface="Calibri"/>
              </a:defRPr>
            </a:pPr>
            <a:r>
              <a:t>Syllabus topics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7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1. DMA Verification (1/9)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DMA Controller Verification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DMA transaction modeling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DMA protocol implementation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DMA sequence generation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DMA result checking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DMA Patterns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1. DMA Verification (2/9)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DMA transfer patterns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Multi-channel DMA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DMA completion handling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DMA error handling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Interface (`dma_if`): DMA interface with start,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done, addresses, length, and channel signals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Transaction (`DmaTxn`): DMA transaction with source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address, destination address, length, and chann…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7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1. DMA Verification (3/9)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Sequence (`DmaSeq`): DMA sequence generating random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DMA transfers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Driver (`DmaDriver`): DMA driver implementing DMA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protocol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Environment (`DmaEnv`): DMA verification environment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Test (`DmaTest`): DMA verification test with simple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DMA DUT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Method Signature: `function bit randomize();`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Purpose: Generate random DMA transfer parameters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7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1. DMA Verification (4/9)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Constraints: Use `with { constraint; }` to limit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values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Key: `len inside {[1:20]}` constrains transfer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length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Method Signature: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`task get_next_item(ref T item);` - Get transaction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from sequencer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`task item_done();` - Signal transaction completion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Purpose: Implement DMA protocol with start/done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handshake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7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1. DMA Verification (5/9)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Protocol Flow: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Key: `do-while` loop waits for `dma_done` pulse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(blocking wait)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Timing: Start signal is one clock cycle pulse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Blocking Behavior: `get_next_item()` blocks until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sequencer provides transaction, `item_done()` unb…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Completion Detection: Wait for `dma_done` signal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assertion (may take multiple clock cycles)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Method Signature: `task body();` (no parameters, no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return)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7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1. DMA Verification (6/9)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Purpose: Generate and send multiple DMA transfers to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sequencer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Execution Flow: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Key: `repeat` loop creates multiple transactions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sequentially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Blocking Behavior: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`start_item()` blocks until sequencer grants access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`finish_item()` blocks until driver completes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transaction (may take many cycles)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7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1. DMA Verification (7/9)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Transaction Lifetime: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Created in loop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Sent to sequencer via `start_item()`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Driver processes it (drives signals, waits for DMA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done)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Driver signals completion via `item_done()`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`finish_item()` returns, loop continues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7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1. DMA Verification (8/9)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Constraint: `len inside {[1:20]}` ensures reasonable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transfer lengths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DMA transaction modeling captures transfer semantics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DMA protocol implementation handles start/done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handshake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DMA sequence generation creates realistic transfer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scenarios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DMA result checking verifies transfer completion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DMA Protocol: Start pulse → Wait for done →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Completion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7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1. DMA Verification (9/9)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Transaction Flow: Sequence → Sequencer → Driver →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DUT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Completion Detection: Wait for `dma_done` signal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assertion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DMA transaction generation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DMA protocol execution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DMA transfer completion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UVM report summary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7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2. Protocol Verification (1/9)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UART Verification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UART protocol modeling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Serial communication verification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Loopback testing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UART-specific patterns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SPI Verification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7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2. Protocol Verification (2/9)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SPI protocol verification patterns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UVM scaffold for SPI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Protocol-specific testbench structure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I2C Verification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I2C protocol verification patterns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UVM scaffold for I2C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2. Protocol Verification (3/9)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Protocol-specific testbench structure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Interface (`uart_if`): UART interface with TX/RX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signals and control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Transaction (`UartTxn`): UART transaction with data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field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Sequence (`UartSeq`): UART sequence generating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random UART transfers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Driver (`UartDriver`): UART driver implementing UART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protocol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Environment (`UartEnv`): UART verification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environment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7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2. Protocol Verification (4/9)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Test (`UartTest`): UART verification test with UART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DUT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Method Signature: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`task get_next_item(ref T item);` - Get transaction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from sequencer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`task item_done();` - Signal transaction completion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Purpose: Implement UART TX protocol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Protocol Flow: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7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2. Protocol Verification (5/9)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Key: Wait for `tx_busy` to deassert (transmission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complete)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Timing: Start signal is one clock cycle pulse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Blocking Behavior: `get_next_item()` blocks until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sequencer provides transaction, `item_done()` unb…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Completion Detection: Wait for `tx_busy` signal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deassertion (may take many clock cycles for serial…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UART Characteristics: Serial transmission takes time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(one bit per baud period)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Purpose: Enable loopback testing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7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2. Protocol Verification (6/9)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Pattern: `assign rx = tx` creates loopback path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Use Case: Minimal smoke testing without external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device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UART protocol modeling captures serial communication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Serial communication verification tests TX/RX paths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Loopback testing enables minimal smoke testing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Protocol-specific patterns provide reusable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verification components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7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2. Protocol Verification (7/9)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UART Protocol: Data → Start → Wait for busy →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Completion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Loopback Pattern: TX output connected to RX input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Busy Signal: Wait for `tx_busy` deassertion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UART transaction generation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UART protocol execution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UART TX/RX operation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7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2. Protocol Verification (8/9)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Loopback verification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Test (`SpiExampleTest`): SPI verification test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scaffold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UVM Pattern: Demonstrates UVM structure for SPI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verification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SPI protocol verification patterns provide reusable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structure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UVM scaffold for protocol verification enables rapid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development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Protocol-specific testbench structure supports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future DUT integration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7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2. Protocol Verification (9/9)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Test (`I2cExampleTest`): I2C verification test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scaffold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UVM Pattern: Demonstrates UVM structure for I2C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verification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I2C protocol verification patterns provide reusable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structure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UVM scaffold for protocol verification enables rapid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development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Protocol-specific testbench structure supports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future DUT integration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7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3. VIP Development (1/6)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VIP Architecture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VIP component organization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VIP packaging patterns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VIP reuse strategies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VIP configuration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VIP Components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7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3. VIP Development (2/6)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Transaction classes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Sequence classes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Driver and monitor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Agent packaging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Transaction (`VipTxn`): VIP transaction with payload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Sequence (`VipSeq`): VIP sequence generating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transactions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7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3. VIP Development (3/6)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Driver (`VipDriver`): VIP driver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Agent (`VipAgent`): VIP agent containing sequencer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and driver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Test (`VipTest`): VIP test demonstrating VIP usage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Purpose: Package VIP components (sequencer + driver)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in agent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Pattern: Agent encapsulates all VIP components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Key: Standard UVM agent structure for reusability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7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3. VIP Development (4/6)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Purpose: VIP driver with structured logging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Logging: Use `uvm_info` with formatted messages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Key: `$sformatf()` for formatted string generation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Purpose: Demonstrate VIP usage in test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Pattern: Create VIP agent, use its sequencer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Key: VIP agent is reusable component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7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3. VIP Development (5/6)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VIP architecture enables reusable verification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components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VIP component organization provides clear structure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VIP packaging patterns support easy integration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VIP reuse strategies improve productivity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VIP Packaging: Transaction + Sequence + Driver +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Agent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Reusability: VIP agent can be instantiated in any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test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7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3. VIP Development (6/6)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Structured Logging: Use `uvm_info` with formatted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messages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VIP transaction generation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VIP agent operation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VIP packaging demonstration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VIP reuse pattern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7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4. Best Practices (1/10)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Code Organization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Component organization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File structure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Module organization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Package organization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Naming Conventions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7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4. Best Practices (2/10)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Component naming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Variable naming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File naming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Test naming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Logging and Debugging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Structured logging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7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4. Best Practices (3/10)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Phase-based logging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Topology visualization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Debug techniques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Test (`BestPracticesTest`): Test demonstrating best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practices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Phase Organization: Proper phase usage and logging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Topology Printing: Component hierarchy visualization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7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4. Best Practices (4/10)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Logging Patterns: Structured logging for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maintainability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Purpose: Log execution flow through phases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Pattern: Log at start of each phase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Key: Consistent logging improves debugging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Method Signature: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`static function uvm_root get();` → returns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singleton root instance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7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4. Best Practices (5/10)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`function void print_topology();` → prints hierarchy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Purpose: Visualize component hierarchy for debugging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Timing: Call in `end_of_elaboration_phase()` (after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all connections)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Output: Prints complete component tree with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hierarchical paths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Output Format: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Key: Helps debug component structure and connections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7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4. Best Practices (6/10)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When to Use: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After all components created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After all connections made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When debugging component hierarchy issues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To verify testbench structure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Benefits: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7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4. Best Practices (7/10)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Visual representation of testbench structure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Helps identify missing components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Verifies hierarchical naming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Aids in debugging connection issues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Method Signature: `function void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end_of_elaboration_phase(uvm_phase phase);`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Phase Type: Build-time phase (function, executes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bottom-up)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7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4. Best Practices (8/10)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Purpose: Final elaboration tasks after all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connections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Common Uses: Print topology, validate configuration,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final checks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Timing: After `connect_phase()`, before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`start_of_simulation_phase()`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Code organization improves maintainability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Naming conventions enhance readability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Phase-based logging provides clear execution flow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7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4. Best Practices (9/10)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Topology visualization aids debugging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Phase Logging: Log at start of each phase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Topology Printing: Use `print_topology()` in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`end_of_elaboration_phase()`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Structured Logging: Use consistent message IDs and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formats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end_of_elaboration_phase: Use for final checks and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topology printing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Phase-based logging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7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4. Best Practices (10/10)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Component topology printing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Best practices demonstration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Structured logging output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7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5. System-Level Verification (1/11)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Multi-DUT Verification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Multiple DUT instantiation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Multi-DUT coordination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System integration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System-level testing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Real-World Patterns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7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5. System-Level Verification (2/11)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Practical verification scenarios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Production-quality testbenches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Maintainable verification environments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Scalable verification solutions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Method Signature: `function bit randomize();`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Return Type: `bit` (1 = success, 0 = failure)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7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5. System-Level Verification (3/11)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Purpose: Generate random DMA transfer parameters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Usage: `void'(t.randomize() with { len inside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{[1:20]}; });`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Parameters: None (randomizes all `rand` fields in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object)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Constraints: Use `with { constraint_expression; }`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to limit values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Example: `len inside {[1:20]}` constrains transfer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length to 1-20 bytes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Key: `void'()` suppresses Verilator warning about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ignored return value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7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5. System-Level Verification (4/11)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Constraint Syntax: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`len inside {[1:20]}` - Range constraint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`len inside {1, 2, 4, 8, 16}` - Set constraint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`len &gt; 0 &amp;&amp; len &lt; 100` - Boolean constraint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Randomization Order: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Pattern: Start pulse → Wait for done → Completion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7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5. System-Level Verification (5/11)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Key: `do-while` loop waits for `dma_done` pulse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Pattern: Data → Start → Wait for busy deassert →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Completion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Key: Wait for `tx_busy` to deassert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Event Control: `@(posedge clk)` - wait for positive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clock edge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Non-blocking Assignment: `&lt;=` - schedule assignment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for next time step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Do-While Loop: `do @(posedge clk); while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(condition);` - wait for condition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7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5. System-Level Verification (6/11)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Purpose: Enable loopback testing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Use Case: Minimal smoke testing without external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device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Purpose: Package VIP components for reusability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Pattern: Agent encapsulates sequencer + driver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Key: Standard UVM agent structure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Macro: `uvm_info(id, message, verbosity)`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7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5. System-Level Verification (7/11)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Function: `$sformatf(format, args)` → string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Purpose: Log transaction with formatted message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Format Specifiers: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`%02h` - 2-digit hexadecimal, zero-padded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`%08h` - 8-digit hexadecimal, zero-padded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`%0d` - Decimal, no padding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7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5. System-Level Verification (8/11)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`%s` - String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Verbosity Levels: UVM_NONE, UVM_LOW, UVM_MEDIUM,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UVM_HIGH, UVM_FULL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Message IDs: Use consistent IDs for filtering and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debugging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Purpose: Log execution flow through phases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Pattern: Log at start of each phase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Key: Consistent logging improves debugging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7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5. System-Level Verification (9/11)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Method Signature: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`static function uvm_root get();` → returns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singleton root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`function void print_topology();` → prints hierarchy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Purpose: Visualize component hierarchy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Timing: Call in `end_of_elaboration_phase()` (after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all connections)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Output: Prints complete component tree with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hierarchical paths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7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5. System-Level Verification (10/11)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Usage: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Phase Type: Build-time phase (function, executes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bottom-up)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Purpose: Final elaboration tasks after all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connections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Timing: After `connect_phase()`, before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`start_of_simulation_phase()`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Common Uses: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Print topology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7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5. System-Level Verification (11/11)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Validate configuration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Final checks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Setup verification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7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0"/>
            <a:ext cx="11064240" cy="1371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>
              <a:lnSpc>
                <a:spcPts val="2200"/>
              </a:lnSpc>
              <a:defRPr sz="3600" b="1">
                <a:solidFill>
                  <a:srgbClr val="1A1A2E"/>
                </a:solidFill>
                <a:latin typeface="Calibri"/>
              </a:defRPr>
            </a:pPr>
            <a:r>
              <a:t>Hands-on examples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7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Module 7 self-check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51560"/>
            <a:ext cx="11064240" cy="914400"/>
          </a:xfrm>
          <a:prstGeom prst="rect">
            <a:avLst/>
          </a:prstGeom>
          <a:solidFill>
            <a:srgbClr val="F4F4F4"/>
          </a:solidFill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2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$ ./scripts/module7.sh --dma</a:t>
            </a:r>
          </a:p>
        </p:txBody>
      </p:sp>
      <p:pic>
        <p:nvPicPr>
          <p:cNvPr id="4" name="Picture 3" descr="module7_chec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965960"/>
            <a:ext cx="7071358" cy="397763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7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Example 1: DMA Verification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Interface (`dma_if`): DMA interface with start,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done, addresses, length, and channel signals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Transaction (`DmaTxn`): DMA transaction with source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address, destination address, length, and chann…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Sequence (`DmaSeq`): DMA sequence generating random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DMA transfers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7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Demo: DMA Verification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51560"/>
            <a:ext cx="11064240" cy="914400"/>
          </a:xfrm>
          <a:prstGeom prst="rect">
            <a:avLst/>
          </a:prstGeom>
          <a:solidFill>
            <a:srgbClr val="F4F4F4"/>
          </a:solidFill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2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$ ./scripts/module7.sh --dma</a:t>
            </a:r>
          </a:p>
        </p:txBody>
      </p:sp>
      <p:pic>
        <p:nvPicPr>
          <p:cNvPr id="4" name="Picture 3" descr="ex01_dm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965960"/>
            <a:ext cx="7071358" cy="397763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7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Example 2: UART Verification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Interface (`uart_if`): UART interface with TX/RX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signals and control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Transaction (`UartTxn`): UART transaction with data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field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Sequence (`UartSeq`): UART sequence generating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random UART transfers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7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Demo: UART Verification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51560"/>
            <a:ext cx="11064240" cy="914400"/>
          </a:xfrm>
          <a:prstGeom prst="rect">
            <a:avLst/>
          </a:prstGeom>
          <a:solidFill>
            <a:srgbClr val="F4F4F4"/>
          </a:solidFill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2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$ ./scripts/module7.sh --protocols</a:t>
            </a:r>
          </a:p>
        </p:txBody>
      </p:sp>
      <p:pic>
        <p:nvPicPr>
          <p:cNvPr id="4" name="Picture 3" descr="ex02_protocol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965960"/>
            <a:ext cx="7071358" cy="397763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7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Example 3: SPI Verification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Test (`SpiExampleTest`): SPI verification test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scaffold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UVM Pattern: Demonstrates UVM structure for SPI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verification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7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Demo: SPI Verification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51560"/>
            <a:ext cx="11064240" cy="914400"/>
          </a:xfrm>
          <a:prstGeom prst="rect">
            <a:avLst/>
          </a:prstGeom>
          <a:solidFill>
            <a:srgbClr val="F4F4F4"/>
          </a:solidFill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2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$ ./scripts/module7.sh --protocols</a:t>
            </a:r>
          </a:p>
        </p:txBody>
      </p:sp>
      <p:pic>
        <p:nvPicPr>
          <p:cNvPr id="4" name="Picture 3" descr="ex03_protocol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965960"/>
            <a:ext cx="7071358" cy="397763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7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Example 4: I2C Verification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Test (`I2cExampleTest`): I2C verification test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scaffold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UVM Pattern: Demonstrates UVM structure for I2C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verification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7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Demo: I2C Verification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51560"/>
            <a:ext cx="11064240" cy="914400"/>
          </a:xfrm>
          <a:prstGeom prst="rect">
            <a:avLst/>
          </a:prstGeom>
          <a:solidFill>
            <a:srgbClr val="F4F4F4"/>
          </a:solidFill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2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$ ./scripts/module7.sh --protocols</a:t>
            </a:r>
          </a:p>
        </p:txBody>
      </p:sp>
      <p:pic>
        <p:nvPicPr>
          <p:cNvPr id="4" name="Picture 3" descr="ex04_protocol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965960"/>
            <a:ext cx="7071358" cy="397763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7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Example 5: VIP Development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Transaction (`VipTxn`): VIP transaction with payload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Sequence (`VipSeq`): VIP sequence generating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transactions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Driver (`VipDriver`): VIP driver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7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Demo: VIP Development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51560"/>
            <a:ext cx="11064240" cy="914400"/>
          </a:xfrm>
          <a:prstGeom prst="rect">
            <a:avLst/>
          </a:prstGeom>
          <a:solidFill>
            <a:srgbClr val="F4F4F4"/>
          </a:solidFill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2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$ ./scripts/module7.sh --vip</a:t>
            </a:r>
          </a:p>
        </p:txBody>
      </p:sp>
      <p:pic>
        <p:nvPicPr>
          <p:cNvPr id="4" name="Picture 3" descr="ex05_vi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965960"/>
            <a:ext cx="7071358" cy="397763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7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Example 6: Best Practices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Test (`BestPracticesTest`): Test demonstrating best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practices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Phase Organization: Proper phase usage and logging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Topology Printing: Component hierarchy visualization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7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Demo: Best Practices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51560"/>
            <a:ext cx="11064240" cy="914400"/>
          </a:xfrm>
          <a:prstGeom prst="rect">
            <a:avLst/>
          </a:prstGeom>
          <a:solidFill>
            <a:srgbClr val="F4F4F4"/>
          </a:solidFill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2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$ ./scripts/module7.sh --best-practices</a:t>
            </a:r>
          </a:p>
        </p:txBody>
      </p:sp>
      <p:pic>
        <p:nvPicPr>
          <p:cNvPr id="4" name="Picture 3" descr="ex06_best_practic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965960"/>
            <a:ext cx="7071358" cy="397763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7</a:t>
            </a: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0"/>
            <a:ext cx="11064240" cy="1371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>
              <a:lnSpc>
                <a:spcPts val="2200"/>
              </a:lnSpc>
              <a:defRPr sz="3600" b="1">
                <a:solidFill>
                  <a:srgbClr val="1A1A2E"/>
                </a:solidFill>
                <a:latin typeface="Calibri"/>
              </a:defRPr>
            </a:pPr>
            <a:r>
              <a:t>Practice &amp; assessment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7</a:t>
            </a: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What you should know (1/2)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Verify complex designs (DMA, protocols) using UVM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patterns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Develop reusable VIP with proper architecture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Apply best practices for code organization and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maintainability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Perform system-level verification with multiple DUTs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Create production-quality testbenches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Understand protocol verification patterns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7</a:t>
            </a:r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What you should know (2/2)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Package verification components for reuse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Use topology printing for debugging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Implement phase-based logging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Apply real-world verification patterns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7</a:t>
            </a:r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Exercises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DMA Verification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Protocol Verification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VIP Development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Best Practices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System-Level Verification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7</a:t>
            </a:r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Assessment checklist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Can verify complex designs (DMA, protocols)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Can develop reusable VIP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Can apply best practices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Can perform system-level verification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Can create production-quality testbenches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Understands protocol verification patterns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7</a:t>
            </a:r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Summary &amp; next steps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Apply UVM to real-world verification scenarios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Complete module7/CHECKLIST.md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Review module7/EXAMPLES.md and run each lab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Next: Next module in course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7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