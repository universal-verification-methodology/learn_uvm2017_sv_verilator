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each path to files under module/examples/.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each path to files under module/examples/.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docs/MODULE1.md.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module1/examples/sv_basics/README.md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module1/examples/sv_basics/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module1/examples/interfaces/README.md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module1/examples/interfaces/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module1/examples/packages/README.md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module1/examples/packages/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module1/examples/data_structures/README.md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module1/examples/data_structures/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module1/examples/error_handling/README.md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module1/examples/error_handling/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MODULE1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9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1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3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5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9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1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SystemVerilog and Verification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SystemVerilog for verification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Understand SystemVerilog for verification and verification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establishes the foundation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work. You'll learn essential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SystemVerilog…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Repository and example layout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Each example directory is self-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contained with README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compile/run instructions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DUTs are intentionally minimal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so you focus on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language features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tests in `tests/uvm_tests/`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preview patterns used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 3 onward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module1/examples/sv_basics/: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Classes, inheritance,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polymorphism demos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Repository and example layout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module1/examples/interfaces/: Interfaces, modports,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clocking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module1/examples/packages/: Packages and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visibility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module1/dut/simple_gates/: Small RTL (AND gate,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counter) for directed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module1/tests/sv_tests/: Makefile-driven 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 on simple DUTs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Repository and example layout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scripts/module1.sh: Orchestrates all examples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Verification building blocks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Classes — transactions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models as reusable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(`uvm_object` foundation)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 — bundle DUT signals;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connect testbench to RTL without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port lists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Packages — share types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parameters across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structures — queues,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associative arrays, dynamic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arrays for stimulus/history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Verification building blocks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Layering: directed SV test → interface-based TB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optional UVM wrapper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1: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+ UVM_HOME compile RTL,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interface, and test_*.sv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phases: build → connect → run_test →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(same pattern as Module 2)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→ driver → DUT → monitor → scoreboard (read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at end)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Typical command: make SIM=verilator TEST=test_*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module1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/ hooks connect monitor observations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directory layout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module1/examples/sv_basics/: Classes, inheritance,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polymorphism demos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module1/examples/interfaces/: Interfaces, modports,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clocking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module1/examples/packages/: Packages and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visibility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module1/dut/simple_gates/: Small RTL (AND gate,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counter) for directed tests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module1/tests/sv_tests/: Makefile-driven 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 on simple DUTs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directory layout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scripts/module1.sh: Orchestrates all examples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 SIM=verilator TEST=test_and_gate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read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Directed self-check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Instantiate DUT, apply known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stimulus in `initial` block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C++ main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outputs in-test; print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`PASS` / `FAIL` (no external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yet)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`$display` / `$error`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visibility; graduate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structured logging in Module 2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Simulation flow: `make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SIM=verilator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TEST=test_and_gate` → compile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→ read result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Baseline test closure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Stimulus: fixed vectors covering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corner cases (0, 1, overflow,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reset)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Checking: inline assertions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explicit comparisons against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expected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Coverage: manual review of cases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exercised (functional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 Module 5)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Regression: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`./scripts/module1.sh --all-sv`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runs all example compilations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Baseline test closure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 of scope: constrained-random, scoreboards,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multi-agent coordination (later modules)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Protocol &amp; design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1.1: Transaction Classes (`module1/examples/sv_basics…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 `Transaction` class with static variables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(`id_counter`)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variables (`id`, `data`, `timestamp`)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Special methods: `new()`, `copy()`, `compare()`,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`convert2string()`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Inheritance: `ReadTransaction`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`WriteTransaction` inherit from `Transaction`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1.1: Transaction Classes (`module1/examples/sv_basics…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overriding: Child classes override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`convert2string()`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`super` to call parent class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Initialize object when created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Called: Automatically via `Transaction txn = new();`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1.2: Interfaces and Modports (`module1/examples/inter…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Definition: `apb_if` interface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 and clocking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Modports: `master_mp` and `slave_mp` modports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different signal directions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Clocking Block: `cb` clocking block for synchronous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Usage: Module using interface with modport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1.2: Interfaces and Modports (`module1/examples/inter…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Integration: Testbench connecting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Usage: Clock generation task, APB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free-running clock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Features: `forever` loop, delay operator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`#`, bitwise NOT `~`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1.3: Packages (`module1/examples/packages/package_exa…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Definition: `verification_pkg` with common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types and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Import: Using `import verification_pkg::*`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 Resolution: Handling name conflicts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Organization: Structuring verification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1.3: Packages (`module1/examples/packages/package_exa…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Definitions: `is_valid_address()`,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`calculate_checksum()`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Definitions: `wait_for_condition()` task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Validates address range (returns 1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valid, 0 if invalid)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`if (is_valid_address(addr)) ...`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1.4: Data Structures (`module1/examples/data_structur…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Arrays: Transaction arrays that grow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dynamically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Queues: FIFO queues for transaction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Arrays: Indexed by transaction 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Structures: Complex data structures for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1.4: Data Structures (`module1/examples/data_structur…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Methods: Using built-in array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Methods: Queue and scoreboard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(`push()`, `pop()`, `check()`)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`push()`: Wraps `push_back()` for FIFO enqueue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`pop()`: Wraps `pop_front()` for FIFO dequeue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1.5: Error Handling (`module1/examples/error_handling…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Reporting: Using `uvm_report_info()`,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`uvm_report_error()`,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Assertions: Immediate and concurrent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Handling: Try-catch blocks for exception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Patterns: Structured logging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1.5: Error Handling (`module1/examples/error_handling…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Retry Logic: Task with retry mechanism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`retry_task()`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Objects: Custom exception class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`convert2string()`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Constructor: Initializes exception with message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`convert2string()`: Formats exception for display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Functions vs Tasks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Compute and return a single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Must declare a return type (`void`,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`int`, `string`, `bit`, etc.)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Execute in zero simulation time (no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allowed)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For calculations, data transformations,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Functions vs Tasks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`function &lt;return_type&gt; &lt;name&gt;(&lt;arguments&gt;);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... endfunction`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✅ Data validation (`is_valid_address()`)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✅ Calculations (`calculate_checksum()`)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Built-in SystemVerilog Functions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Print formatted text to console (like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`printf` in 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`%0d` - Decimal integer (no leading zeros)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`%0h` or `%0x` - Hexadecimal (no leading zeros)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Built-in SystemVerilog Functions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`%0b` - Binary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`%0s` -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`%0t` -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`%0f` - Real (floating point)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Class Methods (Functions in Classes)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Initialize object when created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Called: Automatically when using `new()` operator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 Can have default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`Transaction txn = new();` creates object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calls `new()`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Class Methods (Functions in Classes)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deep copy of object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Duplicate transactions for scoreboards,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Null Check: Always check for null before accessing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`txn_copy.copy(txn1);` copies all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`txn1` to `txn_copy`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Tasks in Testbenches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Organize test code into reusable units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Can contain delays (`#10`) and event waits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(`@(posedge clk)`)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Each test case is a separate 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Calling: `test_basic();` executes the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Tasks in Testbenches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Encapsulate common sequences (reset,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initialization)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Reusability: Can be called from multiple test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`reset();` applies reset sequence before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Pass data to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Array Methods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`push_back()`: Add element to end (FIFO enqueue)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`pop_front()`: Remove element from front (FIFO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dequeue)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`size()`: Return number of elements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Transaction queues, scoreboards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Array Methods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`exists()`: Check if key exists in associative array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Indexing: Use any integral type as key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Scoreboards, coverage collectors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Function and Task Best Practices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Functions execute in zero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Perfect for data transformations, comparisons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Must return a value (or `void`)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can contain delays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Function and Task Best Practices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Perfect for test sequences,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return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check for null before accessing object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Prevents simulation crashes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Real-World Testbench Examples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delays (`#10`) for signal propagation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`assert` with `$error()` for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`$display()` for test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Organized as separate task for reusability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Real-World Testbench Examples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Helper task (`reset()`) encapsulates common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`@(posedge clk)` for clock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Combines delays and event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type casting (`8'(i)`) for bit width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Performance Considerations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Functions: Execute in zero time, no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overhead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Tasks: Consume simulation time, have scheduling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overhead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Recommendation: Use functions for calculations,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tasks only when timing is needed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`push_back()` / `pop_front()`: O(1) for queues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Performance Considerations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`size()`: O(1) for queues and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`exists()`: O(1) average for associative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`foreach`: O(n) where n is number of elements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Troubleshooting Guide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Trying to use `#`, `@`, or `wait` in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Convert to task or remove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Accessing object fields without null 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Always check `if (obj == null)`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Troubleshooting Guide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Trying to use task return value: `int x =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task_name();`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output parameter: `task_name(output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 x);`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Function declared with return type but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return statement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Add `return` statement or change to `void`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Summary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Functions: Zero-time operations that return values;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 for calculations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Tasks: Time-consuming operations; use for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Methods: Functions within classes; enable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object-oriented programming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Functions: `$display()`, `$sformatf()`,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`$finish()`, `$error()`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Summary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Methods: `push_back()`, `pop_front()`,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`size()`, `exists()`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Practices: Null checks, method overriding, 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Pitfalls: Delays in functions, missing null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checks, wrong assignment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Performance: Functions are faster; use tasks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when timing is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flow (reference)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Stimulus, DUT response, and check points for this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Object-Oriented Programming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Classes and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variables and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Static variables and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Encapsulation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Access modifiers (public, protected, local)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Inheritance in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overriding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`super` keyword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methods and polymorphism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Abstract classes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Special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`new()` constructor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`copy()` and `clone()`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`compare()` and `convert2string()`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`print()` and `sprint()`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Design Patterns for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Factory pattern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Singleton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Builder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Strategy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 `Transaction` class with static variables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(`id_counter`)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variables (`id`, `data`, `timestamp`)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Special methods: `new()`, `copy()`, `compare()`,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`convert2string()`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Inheritance: `ReadTransaction`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`WriteTransaction` inherit from `Transaction`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overriding: Child classes override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`convert2string()`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Using `super` to call parent class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Initialize object when created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Called: Automatically via `Transaction txn = new();`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Default Parameters: `name` parameter has default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Deep copy of transaction object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Null Check: Always validates input before accessing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`txn_copy.copy(txn1);` copies all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Returns: `1` if equal, `0` if not equal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`if (txn1.compare(txn2)) $display("Match!");`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Uses: `$sformatf()` built-in function for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Specifiers: `%0d` (decimal), `%0h`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(hexadecimal)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`$display("%s", txn.convert2string());`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Encapsulated access to private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`int id_val = txn.get_id();`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Polymorphism: Derived class method called when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base class handle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 transaction creation and manipulation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Derived transaction examples showing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Copy and compare operations working correctly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 conversion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Static Variables: `id_counter` is shared across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instances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Variables: Each transaction has its own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`id`, `data`, `timestamp`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SystemVerilog Classes and Inheritance for Verification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Special Methods: Enable UVM-compatible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(copy, compare, string conversion)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Inheritance: `ReadTransaction`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`WriteTransaction` extend base functionality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Overriding: Child classes customize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Syntax: `function &lt;return_type&gt;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&lt;name&gt;(&lt;args&gt;); ... endfunction`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Null Safety: Always check for null before accessing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Functions: `$sformatf()`, `$error()`,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`$display()` used throughout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instantiation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Direction specification (input, output, inout)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 usage in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modports per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Clocking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Clocking block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Clocking block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Synchronous signal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Clocking block in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Verification-Specific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interfaces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Definition: `apb_if` interface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 and clocking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Modports: `master_mp` and `slave_mp` modports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different signal directions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Clocking Block: `cb` clocking block for synchronous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Usage: Module using interface with modport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Integration: Testbench connecting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Usage: Clock generation task, APB transaction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free-running clock signal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Features: `forever` loop, delay operator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`#`, bitwise NOT `~`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Result: Clock with 10 time unit period (50% duty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cycle)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Control: `@(posedge clk)` waits for clock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Non-blocking Assignment: `&lt;=` for sequential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Loop: `while (!condition) @(posedge clk)`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pattern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Blocking Assignment: `=` for initialization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(combinational)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Non-blocking Assignment: `&lt;=` for sequential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(clocked)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Signal Access: `bus.signal_name` accesses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 signals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 provide structured communication between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Modports control signal direction and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Clocking blocks enable synchronous signal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 are essential for UVM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Event Control: `@(posedge clk)` synchronizes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clock edges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Assignment Types: `=` (blocking) vs `&lt;=` (non-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blocking)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Wait Patterns: `while (!condition) @(posedge clk)`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handshaking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Interfaces and Modports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Operators: `~` (NOT), `&amp;&amp;` (AND), `!`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(logical NOT)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Packages and Namespaces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Packages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items (classes, functions, types)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import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compilation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Namespaces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Packages and Namespaces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namespaces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Resolving name conflicts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Wildcard imports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Explicit imports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Packages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verification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Packages and Namespaces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Utility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Shared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Definition: `verification_pkg` with common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types and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Import: Using `import verification_pkg::*`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 Resolution: Handling name conflicts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Packages and Namespaces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Organization: Structuring verification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Definitions: `is_valid_address()`,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`calculate_checksum()`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 Definitions: `wait_for_condition()` task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Validates address range (returns 1 if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valid, 0 if invalid)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`if (is_valid_address(addr)) ...`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Feature: `automatic` keyword makes function re-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entrant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Packages and Namespaces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Calculates XOR checksum of 32-bit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Returns: 8-bit checksum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`logic [7:0] checksum =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calculate_checksum(data);`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Wait for condition with timeout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 Features: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`ref` parameter passes by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Packages and Namespaces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Contains delays (`#1`)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Demonstrates task with timing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Packages organize related code (types, functions,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tasks, constants)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statements control namespace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Functions in packages are reusable across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`automatic` keyword enables re-entrant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functions/tasks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Packages and Namespaces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can contain delays, functions cannot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Packages improve code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Essential for UVM library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Data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`bit` and `logic`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`int`, `longint`, `shortint`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`real` and `realtime`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`string`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`enum`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Fixed-size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Structures and Unions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`struct`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Packed and unpacked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`union`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Verification-Specific Data 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bins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Scoreboard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Arrays: Transaction arrays that grow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dynamically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Queues: FIFO queues for transaction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Arrays: Indexed by transaction 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Structures: Complex data structures for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Methods: Using built-in array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Methods: Queue and scoreboard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(`push()`, `pop()`, `check()`)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`push()`: Wraps `push_back()` for FIFO enqueue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`pop()`: Wraps `pop_front()` for FIFO dequeue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`size()`: Returns queue element count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`queue.push(txn); txn = queue.pop();`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`add_expected()`: Stores expected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`check()`: Compares expected vs actual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`exists()`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`scoreboard.add_expected(1, data);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scoreboard.check(1);`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`sample_address()`: Records address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`get_coverage()`: Calculates coverage percentage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Features: `foreach` loop, `exists()`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method, type casting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arrays provide flexibility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 are ideal for FIFO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 enable key-value lookups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Structures organize related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Data Structures for Verification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methods (`push_back()`, `pop_front()`,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`size()`, `exists()`) are essential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Wrapper methods provide clean interfaces to built-in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array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`foreach` loops iterate over associative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efficiently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Error Handling and Logging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SystemVerilog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Immediate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Concurrent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severity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Error Handling and Logging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messaging system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 levels (FATAL, ERROR, WARNING, INFO, DEBUG)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Verbosity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Message formatting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Try-catch blocks (SystemVerilog 2017+)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Error Handling and Logging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propagation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Graceful error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 file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Debug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Error Handling and Logging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Production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Reporting: Using `uvm_report_info()`,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`uvm_report_error()`,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Assertions: Immediate and concurrent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Handling: Try-catch blocks for exception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Patterns: Structured logging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Retry Logic: Task with retry mechanism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`retry_task()`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Error Handling and Logging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Objects: Custom exception class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`convert2string()` method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Constructor: Initializes exception with message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`convert2string()`: Formats exception for display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`$display("%s", exc.convert2string());`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Retry operation with configurable attempts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Functions Used: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Error Handling and Logging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`$display()`: Print formatted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`$urandom_range()`: Generate random numbers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`comp.retry_task(3);` retries up to 3 times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Demonstrate different message severity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levels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Shows structured logging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reporting provides standardized messaging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Error Handling and Logging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 catch design errors early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Exception handling enables graceful failures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is essential for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can implement retry logic with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functions like `$urandom_range()` are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useful for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Custom exception classes provide structured error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(1/26)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Compute and return a single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Must declare a return type (`void`,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`int`, `string`, `bit`, etc.)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Execute in zero simulation time (no delays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allowed)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For calculations, data transformations,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`function &lt;return_type&gt; &lt;name&gt;(&lt;arguments&gt;);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... endfunction`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(2/26)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✅ Data validation (`is_valid_address()`)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✅ Calculations (`calculate_checksum()`)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✅ Comparisons (`compare()`)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✅ String formatting (`convert2string()`)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✅ Accessor methods (`get_id()`)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❌ Operations requiring delays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(3/26)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❌ Test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Perform operations that may consume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 Type: No return value (implicitly `void`)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Can contain delays (`#`, `@`, `wait`)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For test sequences, stimulus generation,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complex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Syntax: `task &lt;name&gt;(&lt;arguments&gt;); ... endtask`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(4/26)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to Use: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✅ Test sequences (`test_basic()`, `test_reset()`)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✅ Reset/initialization sequences (`reset()`)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✅ Clock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✅ Protocol transactions (APB write/read)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✅ Retry logic with delays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(5/26)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❌ Simple calculations (use function instead)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❌ Data transformations (use function instead)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Print formatted text to console (like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`printf` in 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Format Specifiers: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`%0d` - Decimal integer (no leading zeros)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`%0h` or `%0x` - Hexadecimal (no leading zeros)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(6/26)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`%0b` - Binary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`%0s` -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`%0t` -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`%0f` - Real (floating point)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`%0e` - Scientific notation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Variants: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(7/26)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`$display()` - Standard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`$displayb()` - Binary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`$displayh()` - Hexadecimal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`$displayo()` - Octal format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 from code: Used extensively in all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test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 Example (from `test_counter.sv`):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(8/26)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Format string with placeholders (like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`sprintf` in C)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Returns: Formatted string (doesn't print to console)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Create string representations of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 from code: Used in `convert2string()`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methods to format transaction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 Example (from `transaction.sv`):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Stop simulation and exit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(9/26)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End testbench execution after tests complete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Exit Codes: 0 = success, 1 = error, 2 = fatal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 from code: Called at end of all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programs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 Example (from `test_and_gate.sv`):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Report errors with formatted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assertions and error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(10/26)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Severity: ERROR level (stops simulation if severity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is high enough)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 from code: Used in test assertions when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checks fail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 Example (from `test_and_gate.sv`):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Different severity levels for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Use appropriate level for the situation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Severity Order: FATAL &gt; ERROR &gt; WARNING &gt; INFO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(11/26)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Get current simulation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Timing verification, logging with timestamps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Generate random numbers for test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Random test generation, constrained random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 from code: Used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`error_handling_example.sv` for retry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Safe type casting between compatible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(12/26)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Returns: `1` if cast succeeds, `0` if fails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Polymorphic object handling, type checking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Initialize object when created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Called: Automatically when using `new()` operator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Parameters: Can have default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`Transaction txn = new();` creates object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calls `new()`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(13/26)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deep copy of object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Duplicate transactions for scoreboards,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Null Check: Always check for null before accessing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`txn_copy.copy(txn1);` copies all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`txn1` to `txn_copy`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Compare two objects for equality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Returns: `1` if equal, `0` if not equal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(14/26)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Scoreboard checking, test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`if (txn1.compare(txn2))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$display("Match!");`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Create human-readable string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Returns: Formatted string with object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Debugging, logging, test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`$display("%s", txn.convert2string());`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(15/26)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Provide controlled access to private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Encapsulation, data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`int id_val = txn.get_id();`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Organize test code into reusable units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Can contain delays (`#10`) and event waits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(`@(posedge clk)`)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Each test case is a separate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(16/26)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Calling: `test_basic();` executes the 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Encapsulate common sequences (reset,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initialization)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Reusability: Can be called from multiple test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`reset();` applies reset sequence before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Pass data to tasks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Make tasks flexible and reusable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(17/26)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Calling: `write_transaction(16'h1000,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32'hDEADBEEF);`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`push_back()`: Add element to end (FIFO enqueue)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`pop_front()`: Remove element from front (FIFO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dequeue)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`size()`: Return number of elements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Transaction queues, scoreboards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`exists()`: Check if key exists in associative array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(18/26)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Indexing: Use any integral type as key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Scoreboards, coverage collectors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Functions execute in zero 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Perfect for data transformations, comparisons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Must return a value (or `void`)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 can contain delays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(19/26)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Perfect for test sequences,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return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check for null before accessing object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Prevents simulation crashes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Derived classes can override base class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Provides polymorphic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(20/26)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Each test case as separate 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Main `initial` block orchestrates test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Improves code readability and maintainability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delays (`#10`) for signal propagation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`assert` with `$error()` for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`$display()` for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(21/26)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Organized as separate task for reusability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Helper task (`reset()`) encapsulates common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`@(posedge clk)` for clock synchronization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Combines delays and event control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type casting (`8'(i)`) for bit width matching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Uses nested loops for exhaustive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(22/26)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 casting with `bit'(i)`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Expression evaluation in 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Multiple format specifiers in `$error()`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Functions: Execute in zero time, no simulation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overhead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Tasks: Consume simulation time, have scheduling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overhead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Recommendation: Use functions for calculations,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tasks only when timing is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(23/26)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`push_back()` / `pop_front()`: O(1) for queues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`size()`: O(1) for queues and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`exists()`: O(1) average for associative arrays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`foreach`: O(n) where n is number of elements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Trying to use `#`, `@`, or `wait` in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Convert to task or remove timing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(24/26)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Accessing object fields without null 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Always check `if (obj == null)`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accessing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Trying to use task return value: `int x =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task_name();`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output parameter: `task_name(output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 x);`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Function declared with return type but no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return statement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Add `return` statement or change to `void`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(25/26)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Cause: Using wrong format in `$display()`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`$sformatf()`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Solution: Use `%0d` for decimal, `%0h` for hex,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`%0b` for binary, `%0s` for string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Functions: Zero-time operations that return values;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 for calculations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Tasks: Time-consuming operations; use for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Class Methods: Functions within classes; enable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object-oriented programming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Built-in Functions: `$display()`, `$sformatf()`,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`$finish()`, `$error()`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SystemVerilog Functions and Tasks (26/26)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Methods: `push_back()`, `pop_front()`,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`size()`, `exists()`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Practices: Null checks, method overriding, task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Common Pitfalls: Delays in functions, missing null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checks, wrong assignment types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Performance: Functions are faster; use tasks only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when timing is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1.1: Transaction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./scripts/module1.sh --sv-basics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module1/examples/sv_basics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verilator -sv --cc --exe transaction.sv -o transaction_example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make -C obj_dir -f Vtransaction_example.mk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./obj_dir/Vtransaction_example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1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--help</a:t>
            </a:r>
          </a:p>
        </p:txBody>
      </p:sp>
      <p:pic>
        <p:nvPicPr>
          <p:cNvPr id="4" name="Picture 3" descr="module1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./scripts/module1.sh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Transaction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Base `Transaction` class with static variables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(`id_counter`)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Instance variables (`id`, `data`, `timestamp`)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Special methods: `new()`, `copy()`, `compare()`,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`convert2string()`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Inheritance: `ReadTransaction`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`WriteTransaction` inherit from `Transaction`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Method overriding: Child classes override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`convert2string()`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Transaction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--sv-basics &amp;&amp; cd module1/examples/sv_basics &amp;&amp;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verilator -sv --cc --exe transaction.sv -o transaction_example &amp;&amp;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make -C obj_dir -f Vtransaction_example.mk</a:t>
            </a:r>
          </a:p>
        </p:txBody>
      </p:sp>
      <p:pic>
        <p:nvPicPr>
          <p:cNvPr id="4" name="Picture 3" descr="ex01_sv_ba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Interfaces and Modports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Definition: `apb_if` interface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signals and clocking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Modports: `master_mp` and `slave_mp` modports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different signal directions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Clocking Block: `cb` clocking block for synchronous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Usage: Module using interface with modport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Integration: Testbench connecting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Interfaces and Modports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--interfaces</a:t>
            </a:r>
          </a:p>
        </p:txBody>
      </p:sp>
      <p:pic>
        <p:nvPicPr>
          <p:cNvPr id="4" name="Picture 3" descr="ex02_interf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Packages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Definition: `verification_pkg` with common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types and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Import: Using `import verification_pkg::*`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Name Resolution: Handling name conflicts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Organization: Structuring verification code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 Definitions: `is_valid_address()`,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`calculate_checksum()`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Packages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--packages</a:t>
            </a:r>
          </a:p>
        </p:txBody>
      </p:sp>
      <p:pic>
        <p:nvPicPr>
          <p:cNvPr id="4" name="Picture 3" descr="ex03_pack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Data Structures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Dynamic Arrays: Transaction arrays that grow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dynamically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Queues: FIFO queues for transaction management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Arrays: Indexed by transaction ID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Structures: Complex data structures for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Methods: Using built-in array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Data Structures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--data-structures</a:t>
            </a:r>
          </a:p>
        </p:txBody>
      </p:sp>
      <p:pic>
        <p:nvPicPr>
          <p:cNvPr id="4" name="Picture 3" descr="ex04_data_struc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Error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Reporting: Using `uvm_report_info()`,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`uvm_report_error()`,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Assertions: Immediate and concurrent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Handling: Try-catch blocks for exception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handling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Logging Patterns: Structured logging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Retry Logic: Task with retry mechanism using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`retry_task()`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Error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./scripts/module1.sh --error-handling</a:t>
            </a:r>
          </a:p>
        </p:txBody>
      </p:sp>
      <p:pic>
        <p:nvPicPr>
          <p:cNvPr id="4" name="Picture 3" descr="ex05_error_hand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Transaction Class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a base transaction class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copy, compare, and string conversion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derived transaction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 inheritance and polymorphism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Interface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an interface for a simple bus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modports for master and slave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a clocking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 interface to a 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Package Organization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a verification package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Define common types and functions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 and use package in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Resolve name conflicts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Data Structure Usage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dynamic arrays for transaction storage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a queue-based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associative arrays for coverage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structures for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Error Handling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UVM reporting in testbench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 assertions to verify design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Handle exceptions gracefully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structured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SystemVerilog OOP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and use SystemVerilog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interfaces with modports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Organize code using packages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appropriate data structures for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error handling and logging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Write basic SystemVerilog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UVM class structure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Class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Package Organization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Structure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Error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SystemVerilog classes with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design and use interfaces with modports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organize code using packages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appropriate data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error handling and logging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write basic SystemVerilog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SystemVerilog for verification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fundamentals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module1/CHECKLIST.md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module1/EXAMPLES.md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