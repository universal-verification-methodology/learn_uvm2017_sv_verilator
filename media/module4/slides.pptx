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— execution and artifact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— execution and artifact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— execution and artifact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 each path to files under module/examples/.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this order when tracing waveforms or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Execute from course root or example directory — see docs/MODULE4.md.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Execute from course root or example directory — see docs/MODULE4.md.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Execute from course root or example directory — see docs/MODULE4.md.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Execute from course root or example directory — see docs/MODULE4.md.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Execute from course root or example directory — see docs/MODULE4.md.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Execute from course root or example directory — see docs/MODULE4.md.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Execute from course root or example directory — see docs/MODULE4.md.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module4/examples/transactions/README.md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module4/examples/transactions/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module4/examples/drivers/README.md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module4/examples/drivers/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module4/examples/monitors/README.md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module4/examples/monitors/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module4/examples/sequencers/README.md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module4/examples/sequencers/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module4/examples/tlm/README.md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module4/examples/tlm/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module4/examples/scoreboards/README.md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module4/examples/scoreboards/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module4/examples/agents/README.md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module4/examples/agents/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2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4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6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8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0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2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04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06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4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UVM Components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complete UVM agents with driver, monitor,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Build complete UVM agents with driver, monitor, and sequencer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covers the core UVM components used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build verification environments. You'll learn ho…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agent internal architecture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Active agent: sequencer + driver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+ monitor (generates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observes stimulus)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Passive agent: monitor only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(observation/checking 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monitored bus)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`is_active` config selects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build-time component 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Sequencer-driver TLM: `driver.se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q_item_port.connect(sequencer.se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q_item_export)`</a:t>
            </a:r>
          </a:p>
        </p:txBody>
      </p:sp>
      <p:pic>
        <p:nvPicPr>
          <p:cNvPr id="4" name="Picture 3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agent internal architecture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uvm_sequencer: Arbitrates sequences; exports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seq_item_export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uvm_driver: seq_item_port pulls items; drives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virtual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uvm_monitor: Passive observation; broadcasts via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analysis 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uvm_agent: Configures active/passive; builds child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agent internal architecture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uvm_sequence: Produces randomized/constrained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Transaction-level data path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ports: `uvm_analysis_port` 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`uvm_analysis_export`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monitor → scoreboard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Transactions implement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`do_copy`, `do_compare`,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`convert2string` for debug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Execution sequence: build 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→ connect TLM → start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 `run_phase`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1: Sequence — randomize()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 fields</a:t>
            </a:r>
          </a:p>
        </p:txBody>
      </p:sp>
      <p:pic>
        <p:nvPicPr>
          <p:cNvPr id="4" name="Picture 3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Transaction-level data path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2: Sequencer — Sends item to driver via TLM 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3: Driver — Drives interface signals from item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4: DUT — Responds on bus/interface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5: Monitor — Captures pin activity → transaction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Transaction-level data path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6: Scoreboard — Compares expected vs observed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(Module 4 examples)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Module 4 example progression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`examples/transactions/` →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modeling fundamentals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`examples/drivers/`,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`monitors/`, `sequencers/`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individual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`examples/tlm/`, `scoreboards/`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→ communication and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`examples/agents/` → integrated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active agent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Module 4 example progression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`tests/uvm_tests/test_complete_agent_uvm.sv` — full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agent on interface DUT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RTL block diagram (reference)</a:t>
            </a:r>
          </a:p>
        </p:txBody>
      </p:sp>
      <p:pic>
        <p:nvPicPr>
          <p:cNvPr id="3" name="Picture 2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4: DUT hierarchy and signal 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/ testbench diagram (reference)</a:t>
            </a:r>
          </a:p>
        </p:txBody>
      </p:sp>
      <p:pic>
        <p:nvPicPr>
          <p:cNvPr id="3" name="Picture 2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4: stimulus, observation, and checking.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Execution &amp; simulation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How the example runs (toolchain)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Makefile: Verilator + UVM_HOME compile RTL,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interface, and test_*.sv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phases: build → connect → run_test → report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(same pattern as Module 2)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→ driver → DUT → monitor → scoreboard (read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 at end)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Typical command: make SIM=verilator TEST=test_* (see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module4 demo slide)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Loopback / hooks connect monitor observations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Artifact flow (spec → sim)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1: Sequence — randomize() transaction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2: Sequencer — Sends item to driver via TLM 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3: Driver — Drives interface signals from item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4: DUT — Responds on bus/interface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Artifact flow (spec → sim)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5: Monitor — Captures pin activity →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6: Scoreboard — Compares expected vs observed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(Module 4 examples)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directory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uvm_sequencer: Arbitrates sequences; exports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seq_item_export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uvm_driver: seq_item_port pulls items; drives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virtual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uvm_monitor: Passive observation; broadcasts via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analysis 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uvm_agent: Configures active/passive; builds child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uvm_sequence: Produces randomized/constrained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Directed test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connect TLM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start sequence in run_phase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Component-level verification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each component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isolation before 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Driver: loopback or simple slave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model confirms pin wiggles match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items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Monitor: drive known patterns;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confirm reconstructed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Sequencer: run single sequence;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count items completed vs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requested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Agent integration and closure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Connect monitor analysis port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 export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`connect_phase`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`uvm_config_db` to pass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virtual interface to driver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Regression: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`./scripts/module4.sh --all-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examples` then `--uvm-tests`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 criteria: scoreboard match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count equals transaction count;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no UVM_ERROR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Agent integration and closure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Waveform optional — rely on transaction logs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 summary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Protocol &amp; design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4.1: Transactions (`module4/examples/transactions/tra…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BaseTransaction: Basic transaction with `data`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`address`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ExtendedTransaction: Extended transaction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`control` and `status`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ConstrainedTransaction: Transaction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randomization constraints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Operations: Copy, comparison, and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4.1: Transactions (`module4/examples/transactions/tra…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Provide human-readable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representation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Debugging, logging,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Override from `uvm_object` base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Create independent copy of transaction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4.2: Drivers (`module4/examples/drivers/drivers.sv`)…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SimpleDriver: Basic driver implementation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 reception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ProtocolDriver: Protocol-aware driver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handshaking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Driver-Sequencer Communication: Using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`seq_item_port` for transaction flow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Driving: Converting transactions to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4.2: Drivers (`module4/examples/drivers/drivers.sv`)…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Get transaction from sequencer (blocking)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Called in driver's `run_phase()` forever loop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Blocks until sequencer provides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Signal that transaction processing 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4.3: Monitors (`module4/examples/monitors/monitors.sv…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SimpleMonitor: Basic monitor implementation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 sampling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ProtocolMonitor: Protocol-aware monitor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handshake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Creation: Creating transactions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sampled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Port: Forwarding transactions via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4.3: Monitors (`module4/examples/monitors/monitors.sv…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Broadcast transaction to all subscribers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Called after creating transaction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sampled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Non-blocking, broadcasts to all connected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subscribers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Create analysis port in constructor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4.4: Sequencers (`module4/examples/sequencers/sequenc…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SimpleSequence: Basic sequence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ExtendedSequence: Extended sequence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configurable item count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Execution: Starting sequences on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Item Generation: Creating and sending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4.4: Sequencers (`module4/examples/sequencers/sequenc…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and send sequence items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Main sequence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Called when sequence is started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Request sequence item from sequencer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4.5: TLM (`module4/examples/tlm/tlm.sv`)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TlmProducer: Uses `uvm_blocking_put_port` to produce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TlmConsumer: Uses `uvm_blocking_get_export`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consume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AnalysisProducer: Uses `uvm_analysis_port`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broadcast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AnalysisSubscriber: Uses `uvm_subscriber` to receive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4.5: TLM (`module4/examples/tlm/tlm.sv`)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Send transaction to consumer (blocking)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Producer sends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Blocks until consumer receives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Receive transaction from producer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(blocking)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4.6: Scoreboards (`module4/examples/scoreboards/score…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SimpleScoreboard: Basic scoreboard with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Storage: Storing expected and actual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Comparison Logic: Comparing transactions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Reporting: Reporting pass/fail 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4.6: Scoreboards (`module4/examples/scoreboards/score…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Receive transactions from 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Called automatically when monitor writes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analysis 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Compares actual vs expected results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Store expected transaction for later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4.7: Complete Agents (`module4/examples/agents/agents…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CompleteAgent: Contains driver, monitor,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Configuration: Configurable as active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passive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Integration: Integrating all 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Testing: Testing complete agent functionality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4.7: Complete Agents (`module4/examples/agents/agents…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Create agent components based 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Active agent has driver+sequencer, passive has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monitor only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Monitor: Always created (both active and passive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Driver/Sequencer: Only created in active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flow (reference)</a:t>
            </a:r>
          </a:p>
        </p:txBody>
      </p:sp>
      <p:pic>
        <p:nvPicPr>
          <p:cNvPr id="3" name="Picture 2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Stimulus, DUT response, and check points for this module.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Agent Architecture (1/9)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Overview and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purpose and responsibilities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components (driver, monitor, sequencer)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Active vs passive agents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Agent Architecture (2/9)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for stimulus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for observation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for sequence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BaseTransaction: Basic transaction with `data`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`address`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ExtendedTransaction: Extended transaction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`control` and `status` fields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Agent Architecture (3/9)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ConstrainedTransaction: Transaction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randomization constraints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Operations: Copy, comparison, and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conversion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Provide human-readable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representation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Debugging, logging,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Override from `uvm_object` base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Create independent copy of transaction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Agent Architecture (4/9)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`txn2.copy(txn1)` - creates deep copy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Must call `super.do_copy(rhs)` first, then copy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all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Compare two transactions for equality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`if (txn1.compare(txn2))` - returns 1 if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equal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Returns 1 if all fields match, 0 otherwise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random values satisfying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Agent Architecture (5/9)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`txn.randomize()` - returns 1 if successful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Constraints ensure protocol compliance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Post-process after randomization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Calculate derived fields, validate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constraints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Called automatically after `randomize()`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succeeds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Example: Calculate expected results, checksums,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derived values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Agent Architecture (6/9)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Type-safe conversion from `uvm_object`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specific type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Required in `do_copy()` and `do_compare()`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Always check return value, handle type mismatch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Extend base transaction with additional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Must call `super` methods to handle base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class design extending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`uvm_sequence_item`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Agent Architecture (7/9)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fields and data members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copy and comparison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Extended transactions with inheritance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Constrained random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`convert2string()` for debugging and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`do_copy()` for deep copying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Agent Architecture (8/9)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`do_compare()` for transaction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`randomize()` for constrained random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Constraints ensure protocol compliance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creation and initialization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copy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comparison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Agent Architecture (9/9)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Extended transaction inheritance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Constrained random transaction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Driver Implementation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Purpose and Responsibilities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Stimulus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driving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Transaction-to-signal conversion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Driver Implementation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class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communication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reception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driving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SimpleDriver: Basic driver implementation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 reception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ProtocolDriver: Protocol-aware driver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handshaking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Driver Implementation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Driver-Sequencer Communication: Using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`seq_item_port` for transaction flow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Driving: Converting transactions to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Get transaction from sequencer (blocking)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Called in driver's `run_phase()` forever loop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Blocks until sequencer provides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Signal that transaction processing 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Driver Implementation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Called after driving transaction to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Allows sequencer to provide next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Convert transaction to DUT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Called after `get_next_item()`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Implements protocol-specific driving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Implement protocol-specific handshaking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Driver Implementation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Handles request/grant, timing,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compliance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Connect driver to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agent's `connect_phase()`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Establishes TLM communication channel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class structure extending `uvm_driver`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reception from sequencer via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`seq_item_port`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Driver Implementation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driving to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Driver-sequencer communication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Protocol-specific driving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`get_next_item()` - Get transaction from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(blocking)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`item_done()` - Signal transaction completion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`drive_transaction()` - Convert transaction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Driver Implementation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connection 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`seq_item_port.connect(sequencer.seq_item_export)`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Forever loop - Driver continuously processes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creation and initialization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reception from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driving to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Protocol-specific driving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Driver Implementation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Driver-sequencer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Monitor Implementation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Purpose and Responsibilities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observation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sampling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port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Monitor Implementation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class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sampling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port forwarding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SimpleMonitor: Basic monitor implementation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 sampling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ProtocolMonitor: Protocol-aware monitor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handshake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Monitor Implementation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Creation: Creating transactions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sampled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Port: Forwarding transactions via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Broadcast transaction to all subscribers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Called after creating transaction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sampled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Non-blocking, broadcasts to all connected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subscribers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Create analysis port in constructor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Monitor Implementation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Analysis ports created in constructor, not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build_phase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Sample DUT signals and create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Monitor is passive (doesn't drive DUT)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Connect monitor to subscribers (scoreboard,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coverage, etc.)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One monitor can connect to multiple subscribers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Receive transactions from analysis 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Monitor Implementation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Scoreboard, coverage collector, logger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Automatically called when monitor writes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analysis 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class structure extending `uvm_monitor`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sampling from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creation from sampled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port usage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Monitor Implementation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Protocol-specific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`ap.write(txn)` - Broadcast transaction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subscribers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port creation - In constructor, not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build_phase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sampling - Wait for protocol events, sample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creation - Create from sampled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Subscriber pattern - Components receive via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`write()`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Monitor Implementation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creation and initialization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sampling from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creation from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port forwarding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Protocol-specific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Sequencer and Sequences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purpose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item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Sequencer-driver communication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Sequencer and Sequences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items (`uvm_sequence_item`)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Sequences (`uvm_sequence`)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libraries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SimpleSequence: Basic sequence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ExtendedSequence: Extended sequence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configurable item count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Sequencer and Sequences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Execution: Starting sequences on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Item Generation: Creating and sending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 items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and send sequence items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Main sequence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Called when sequence is started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Request sequence item from sequencer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Sequencer and Sequences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Called before setting item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Blocking call, waits for sequencer availability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Send sequence item to driver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Called after setting item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Item flows: Sequence → Sequencer → Driver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Start sequence execution on sequencer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Sequencer and Sequences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test's `run_phase()`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Sequence executes `body()` task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random test vectors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Constraints ensure valid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Configurable sequence with parameters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Can be configured via ConfigDB or constructor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Sequencer and Sequences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items (`uvm_sequence_item`)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Sequences (`uvm_sequence`)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libraries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`body()` - Main sequence logic (generates items)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Sequencer and Sequences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`start_item(item)` - Request item from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`finish_item(item)` - Send item to driver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`seq.start(sequencer)` - Start sequence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Item flow: Sequence → Sequencer → Driver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creation and initialization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item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Sequencer and Sequences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Sequencer-driver communication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libraries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TLM (Transaction-Level Modeling)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Put/get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Peek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Transport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TLM (Transaction-Level Modeling)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ports and exports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FIFOs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ports and exports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connections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TlmProducer: Uses `uvm_blocking_put_port` to produce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TlmConsumer: Uses `uvm_blocking_get_export`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consume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TLM (Transaction-Level Modeling)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AnalysisProducer: Uses `uvm_analysis_port`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broadcast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AnalysisSubscriber: Uses `uvm_subscriber` to receive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Send transaction to consumer (blocking)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Producer sends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Blocks until consumer receives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Receive transaction from producer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(blocking)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TLM (Transaction-Level Modeling)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Consumer receives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Blocks until producer sends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Buffer between producer and consumer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Decouples producer and consumer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FIFO stores transactions temporarily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Broadcast transaction to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subscribers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TLM (Transaction-Level Modeling)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One-to-many communication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Non-blocking, broadcasts to all subscribers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Receive transactions from analysis 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Scoreboard, coverage, logger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Automatically called when producer writes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interfaces (put, get, peek, transport)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TLM (Transaction-Level Modeling)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ports and exports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FIFOs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ports and exports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connections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`put_port.put(txn)` - Send transaction (blocking)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`get_export.get(txn)` - Receive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(blocking)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TLM (Transaction-Level Modeling)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`ap.write(txn)` - Broadcast transaction (non-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blocking)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`write(t)` - Receive in subscriber (automatic)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FIFO - Decouples producer and consumer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port - One-to-many communication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port/export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connection establishment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TLM (Transaction-Level Modeling)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flow via TLM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port broadcasting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FIFO usage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Scoreboards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Purpose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Pass/fail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closure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Scoreboards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storage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Comparison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SimpleScoreboard: Basic scoreboard with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Storage: Storing expected and actual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Scoreboards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Comparison Logic: Comparing transactions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Reporting: Reporting pass/fail counts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Receive transactions from 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Called automatically when monitor writes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analysis 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Compares actual vs expected results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Store expected transaction for later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Scoreboards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Called before actual transaction arrives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Queue stores expected transactions in order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Manage expected transaction queue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FIFO queue ensures order matching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Compare actual vs expected results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Reports pass/fail, tracks 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Scoreboards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Report final test results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Called in cleanup 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Provides test pass/fail summary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Connect monitor to scoreboard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Monitor writes → Scoreboard receives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purpose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Scoreboards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Pass/fail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`write(txn)` - Receive transaction from 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`add_expected(txn)` - Store expected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operations - `push_back()`, `pop_front()`,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`size()`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Scoreboards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Comparison logic - Compare actual vs expected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Report phase - Final test results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export - `uvm_analysis_imp` receives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creation and initialization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storage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Scoreboards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Pass/fail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Complete Agent Example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Building Complete Agents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Active vs passive agents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CompleteAgent: Contains driver, monitor,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Complete Agent Example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Configuration: Configurable as active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passive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Integration: Integrating all 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Testing: Testing complete agent functionality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Create agent components based 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Active agent has driver+sequencer, passive has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monitor only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Monitor: Always created (both active and passive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Complete Agent Example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Driver/Sequencer: Only created in active mode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Connect agent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Driver-sequencer connection only for active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agents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Note: Monitor analysis port connected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environment's connect_phase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Configure agent as active or passive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Set before creating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Complete Agent Example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Active = driver+sequencer+monitor, Passive =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monitor only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Must be set in test's build_phase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agent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Use agent based on mode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Check `is_active` before using driver/sequencer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Complete Agent Example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Active vs passive agents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Active agent - Driver + Sequencer + 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Passive agent - Monitor only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- Via ConfigDB before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creation - Based on active/passive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Complete Agent Example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Connection - Driver-sequencer only for active agents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agent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Active/passive agent modes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functionality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Run: Example 4.1: Transactions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./scripts/module4.sh --transactions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cd module4/examples/transactions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verilator -sv --cc --exe --timing --trace \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-I$UVM_HOME/src +incdir+$UVM_HOME/src +define+UVM_NO_DPI \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--binary $UVM_HOME/src/uvm_pkg.sv transactions.sv transactions.cpp \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--top-module transactions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make -C obj_dir -f Vtransactions.mk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./obj_dir/Vtransactions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Run: Example 4.2: Drivers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./scripts/module4.sh --drivers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Run: Example 4.3: Monitors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./scripts/module4.sh --monitors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Run: Example 4.4: Sequencers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./scripts/module4.sh --sequencers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Run: Example 4.5: TLM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./scripts/module4.sh --tlm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Run: Example 4.6: Scoreboards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./scripts/module4.sh --scoreboards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Run: Example 4.7: Complete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./scripts/module4.sh --agents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4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./scripts/module4.sh --help</a:t>
            </a:r>
          </a:p>
        </p:txBody>
      </p:sp>
      <p:pic>
        <p:nvPicPr>
          <p:cNvPr id="4" name="Picture 3" descr="module4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./scripts/module4.sh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1: Transactions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BaseTransaction: Basic transaction with `data`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`address`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ExtendedTransaction: Extended transaction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`control` and `status`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ConstrainedTransaction: Transaction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randomization constraints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Operations: Copy, comparison, and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Transactions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./scripts/module4.sh --transactions</a:t>
            </a:r>
          </a:p>
        </p:txBody>
      </p:sp>
      <p:pic>
        <p:nvPicPr>
          <p:cNvPr id="4" name="Picture 3" descr="ex01_trans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2: Drivers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SimpleDriver: Basic driver implementation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 reception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ProtocolDriver: Protocol-aware driver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handshaking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Driver-Sequencer Communication: Using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`seq_item_port` for transaction flow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Driving: Converting transactions to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Drivers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./scripts/module4.sh --drivers</a:t>
            </a:r>
          </a:p>
        </p:txBody>
      </p:sp>
      <p:pic>
        <p:nvPicPr>
          <p:cNvPr id="4" name="Picture 3" descr="ex02_dri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3: Monitors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SimpleMonitor: Basic monitor implementation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 sampling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ProtocolMonitor: Protocol-aware monitor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handshake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Creation: Creating transactions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sampled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Port: Forwarding transactions via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Monitors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./scripts/module4.sh --monitors</a:t>
            </a:r>
          </a:p>
        </p:txBody>
      </p:sp>
      <p:pic>
        <p:nvPicPr>
          <p:cNvPr id="4" name="Picture 3" descr="ex03_moni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4: Sequencers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SimpleSequence: Basic sequence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ExtendedSequence: Extended sequence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configurable item count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Execution: Starting sequences on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Item Generation: Creating and sending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Sequencers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./scripts/module4.sh --sequencers</a:t>
            </a:r>
          </a:p>
        </p:txBody>
      </p:sp>
      <p:pic>
        <p:nvPicPr>
          <p:cNvPr id="4" name="Picture 3" descr="ex04_sequenc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5: TLM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TlmProducer: Uses `uvm_blocking_put_port` to produce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TlmConsumer: Uses `uvm_blocking_get_export`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consume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AnalysisProducer: Uses `uvm_analysis_port`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broadcast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AnalysisSubscriber: Uses `uvm_subscriber` to receive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TLM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./scripts/module4.sh --tlm</a:t>
            </a:r>
          </a:p>
        </p:txBody>
      </p:sp>
      <p:pic>
        <p:nvPicPr>
          <p:cNvPr id="4" name="Picture 3" descr="ex05_t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6: Scoreboards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SimpleScoreboard: Basic scoreboard with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Storage: Storing expected and actual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Comparison Logic: Comparing transactions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Reporting: Reporting pass/fail 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Scoreboards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./scripts/module4.sh --scoreboards</a:t>
            </a:r>
          </a:p>
        </p:txBody>
      </p:sp>
      <p:pic>
        <p:nvPicPr>
          <p:cNvPr id="4" name="Picture 3" descr="ex06_scorebo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7: Complete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CompleteAgent: Contains driver, monitor,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Configuration: Configurable as active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passive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Integration: Integrating all 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Testing: Testing complete agent functionality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Complete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./scripts/module4.sh --agents</a:t>
            </a:r>
          </a:p>
        </p:txBody>
      </p:sp>
      <p:pic>
        <p:nvPicPr>
          <p:cNvPr id="4" name="Picture 3" descr="ex07_ag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and implement transaction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drivers for DUT stimulus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monitors for DUT observation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sequencers and sequences for test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TLM for component communication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scoreboards for result checking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complete agents with all components integrated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Apply UVM component patterns in testbenches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Modeling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and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design and implement transaction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create drivers for DUT stimulus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implement monitors for DUT observation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build sequencers and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TLM for component communication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create scoreboards for result checking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complete UVM agents with driver, monitor,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module4/CHECKLIST.md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module4/EXAMPLES.md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